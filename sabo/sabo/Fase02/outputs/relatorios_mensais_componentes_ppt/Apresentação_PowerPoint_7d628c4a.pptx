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21338" cy="6858000"/>
          </a:xfrm>
          <a:prstGeom prst="rect">
            <a:avLst/>
          </a:prstGeom>
          <a:solidFill>
            <a:srgbClr val="0F3460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40598" y="1003300"/>
            <a:ext cx="1114806" cy="457200"/>
          </a:xfrm>
          <a:prstGeom prst="roundRect">
            <a:avLst>
              <a:gd name="adj" fmla="val 11362500"/>
            </a:avLst>
          </a:prstGeom>
          <a:solidFill>
            <a:srgbClr val="F5A62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43290" y="1079500"/>
            <a:ext cx="70942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1A1A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IJ-044</a:t>
            </a:r>
            <a:endParaRPr lang="en-US" sz="2394" dirty="0"/>
          </a:p>
        </p:txBody>
      </p:sp>
      <p:sp>
        <p:nvSpPr>
          <p:cNvPr id="5" name="Text 3"/>
          <p:cNvSpPr txBox="1"/>
          <p:nvPr/>
        </p:nvSpPr>
        <p:spPr>
          <a:xfrm>
            <a:off x="506730" y="1663700"/>
            <a:ext cx="3582542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88" b="1" dirty="0">
                <a:solidFill>
                  <a:srgbClr val="EAEAE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Relatório Mensal</a:t>
            </a:r>
            <a:pPr algn="ctr" indent="0" marL="0">
              <a:buNone/>
            </a:pPr>
            <a:r>
              <a:rPr lang="en-US" sz="4788" b="1" dirty="0">
                <a:solidFill>
                  <a:srgbClr val="EAEAE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por Componente</a:t>
            </a:r>
            <a:endParaRPr lang="en-US" sz="4788" dirty="0"/>
          </a:p>
        </p:txBody>
      </p:sp>
      <p:sp>
        <p:nvSpPr>
          <p:cNvPr id="6" name="Text 4"/>
          <p:cNvSpPr txBox="1"/>
          <p:nvPr/>
        </p:nvSpPr>
        <p:spPr>
          <a:xfrm>
            <a:off x="506730" y="4914900"/>
            <a:ext cx="358254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5" dirty="0">
                <a:solidFill>
                  <a:srgbClr val="A0A0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Análise de desempenho · Mai/2024 – Mar/2026</a:t>
            </a:r>
            <a:endParaRPr lang="en-US" sz="1795" dirty="0"/>
          </a:p>
        </p:txBody>
      </p:sp>
      <p:sp>
        <p:nvSpPr>
          <p:cNvPr id="7" name="Text 5"/>
          <p:cNvSpPr txBox="1"/>
          <p:nvPr/>
        </p:nvSpPr>
        <p:spPr>
          <a:xfrm>
            <a:off x="806314" y="5626100"/>
            <a:ext cx="29833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6C6C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Produção · Qualidade · Manutenção</a:t>
            </a:r>
            <a:endParaRPr lang="en-US" sz="1496" dirty="0"/>
          </a:p>
        </p:txBody>
      </p:sp>
      <p:sp>
        <p:nvSpPr>
          <p:cNvPr id="8" name="Shape 6"/>
          <p:cNvSpPr/>
          <p:nvPr/>
        </p:nvSpPr>
        <p:spPr>
          <a:xfrm>
            <a:off x="5026722" y="1123950"/>
            <a:ext cx="6729414" cy="1435100"/>
          </a:xfrm>
          <a:prstGeom prst="roundRect">
            <a:avLst>
              <a:gd name="adj" fmla="val 480"/>
            </a:avLst>
          </a:prstGeom>
          <a:solidFill>
            <a:srgbClr val="16213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80087" y="1663700"/>
            <a:ext cx="354711" cy="3556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837490" y="1327150"/>
            <a:ext cx="566528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91" b="1" dirty="0">
                <a:solidFill>
                  <a:srgbClr val="E9456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402.811</a:t>
            </a:r>
            <a:endParaRPr lang="en-US" sz="3591" dirty="0"/>
          </a:p>
        </p:txBody>
      </p:sp>
      <p:sp>
        <p:nvSpPr>
          <p:cNvPr id="11" name="Text 8"/>
          <p:cNvSpPr txBox="1"/>
          <p:nvPr/>
        </p:nvSpPr>
        <p:spPr>
          <a:xfrm>
            <a:off x="5837490" y="1898650"/>
            <a:ext cx="56652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Peças produzidas</a:t>
            </a:r>
            <a:endParaRPr lang="en-US" sz="1496" dirty="0"/>
          </a:p>
        </p:txBody>
      </p:sp>
      <p:sp>
        <p:nvSpPr>
          <p:cNvPr id="12" name="Text 9"/>
          <p:cNvSpPr txBox="1"/>
          <p:nvPr/>
        </p:nvSpPr>
        <p:spPr>
          <a:xfrm>
            <a:off x="5837490" y="2127250"/>
            <a:ext cx="56652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C6C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Mai/2024 → Mar/2026</a:t>
            </a:r>
            <a:endParaRPr lang="en-US" sz="1496" dirty="0"/>
          </a:p>
        </p:txBody>
      </p:sp>
      <p:sp>
        <p:nvSpPr>
          <p:cNvPr id="13" name="Shape 10"/>
          <p:cNvSpPr/>
          <p:nvPr/>
        </p:nvSpPr>
        <p:spPr>
          <a:xfrm>
            <a:off x="5026722" y="2711450"/>
            <a:ext cx="6729414" cy="1435100"/>
          </a:xfrm>
          <a:prstGeom prst="roundRect">
            <a:avLst>
              <a:gd name="adj" fmla="val 480"/>
            </a:avLst>
          </a:prstGeom>
          <a:solidFill>
            <a:srgbClr val="16213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80087" y="3251200"/>
            <a:ext cx="354711" cy="3556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37490" y="2914650"/>
            <a:ext cx="566528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91" b="1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14</a:t>
            </a:r>
            <a:endParaRPr lang="en-US" sz="3591" dirty="0"/>
          </a:p>
        </p:txBody>
      </p:sp>
      <p:sp>
        <p:nvSpPr>
          <p:cNvPr id="16" name="Text 12"/>
          <p:cNvSpPr txBox="1"/>
          <p:nvPr/>
        </p:nvSpPr>
        <p:spPr>
          <a:xfrm>
            <a:off x="5837490" y="3486150"/>
            <a:ext cx="56652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Compostos utilizados</a:t>
            </a:r>
            <a:endParaRPr lang="en-US" sz="1496" dirty="0"/>
          </a:p>
        </p:txBody>
      </p:sp>
      <p:sp>
        <p:nvSpPr>
          <p:cNvPr id="17" name="Text 13"/>
          <p:cNvSpPr txBox="1"/>
          <p:nvPr/>
        </p:nvSpPr>
        <p:spPr>
          <a:xfrm>
            <a:off x="5837490" y="3714750"/>
            <a:ext cx="56652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C6C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23 meses de operação</a:t>
            </a:r>
            <a:endParaRPr lang="en-US" sz="1496" dirty="0"/>
          </a:p>
        </p:txBody>
      </p:sp>
      <p:sp>
        <p:nvSpPr>
          <p:cNvPr id="18" name="Shape 14"/>
          <p:cNvSpPr/>
          <p:nvPr/>
        </p:nvSpPr>
        <p:spPr>
          <a:xfrm>
            <a:off x="5026722" y="4298950"/>
            <a:ext cx="6729414" cy="1435100"/>
          </a:xfrm>
          <a:prstGeom prst="roundRect">
            <a:avLst>
              <a:gd name="adj" fmla="val 480"/>
            </a:avLst>
          </a:prstGeom>
          <a:solidFill>
            <a:srgbClr val="16213E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280087" y="4838700"/>
            <a:ext cx="354711" cy="355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837490" y="4502150"/>
            <a:ext cx="566528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91" b="1" dirty="0">
                <a:solidFill>
                  <a:srgbClr val="4CAF8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1,39%</a:t>
            </a:r>
            <a:endParaRPr lang="en-US" sz="3591" dirty="0"/>
          </a:p>
        </p:txBody>
      </p:sp>
      <p:sp>
        <p:nvSpPr>
          <p:cNvPr id="21" name="Text 16"/>
          <p:cNvSpPr txBox="1"/>
          <p:nvPr/>
        </p:nvSpPr>
        <p:spPr>
          <a:xfrm>
            <a:off x="5837490" y="5073650"/>
            <a:ext cx="56652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Taxa de refugo</a:t>
            </a:r>
            <a:endParaRPr lang="en-US" sz="1496" dirty="0"/>
          </a:p>
        </p:txBody>
      </p:sp>
      <p:sp>
        <p:nvSpPr>
          <p:cNvPr id="22" name="Text 17"/>
          <p:cNvSpPr txBox="1"/>
          <p:nvPr/>
        </p:nvSpPr>
        <p:spPr>
          <a:xfrm>
            <a:off x="5837490" y="5302250"/>
            <a:ext cx="56652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C6C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5.618 peças refugadas</a:t>
            </a:r>
            <a:endParaRPr lang="en-US" sz="149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7700"/>
          </a:xfrm>
          <a:prstGeom prst="rect">
            <a:avLst/>
          </a:prstGeom>
          <a:solidFill>
            <a:srgbClr val="16213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04038" y="127000"/>
            <a:ext cx="390182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EAEAE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Visão Executiva da Produção</a:t>
            </a:r>
            <a:endParaRPr lang="en-US" sz="2993" dirty="0"/>
          </a:p>
        </p:txBody>
      </p:sp>
      <p:sp>
        <p:nvSpPr>
          <p:cNvPr id="4" name="Text 2"/>
          <p:cNvSpPr txBox="1"/>
          <p:nvPr/>
        </p:nvSpPr>
        <p:spPr>
          <a:xfrm>
            <a:off x="11325416" y="190500"/>
            <a:ext cx="5320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IJ-044</a:t>
            </a:r>
            <a:endParaRPr lang="en-US" sz="1795" dirty="0"/>
          </a:p>
        </p:txBody>
      </p:sp>
      <p:sp>
        <p:nvSpPr>
          <p:cNvPr id="5" name="Shape 3"/>
          <p:cNvSpPr/>
          <p:nvPr/>
        </p:nvSpPr>
        <p:spPr>
          <a:xfrm>
            <a:off x="253365" y="800100"/>
            <a:ext cx="2799683" cy="1593850"/>
          </a:xfrm>
          <a:prstGeom prst="roundRect">
            <a:avLst>
              <a:gd name="adj" fmla="val 1038"/>
            </a:avLst>
          </a:prstGeom>
          <a:solidFill>
            <a:srgbClr val="16213E"/>
          </a:solidFill>
          <a:ln w="19002">
            <a:solidFill>
              <a:srgbClr val="F5A62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13856" y="971550"/>
            <a:ext cx="278702" cy="279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5804" y="1301750"/>
            <a:ext cx="111480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402.811</a:t>
            </a:r>
            <a:endParaRPr lang="en-US" sz="2993" dirty="0"/>
          </a:p>
        </p:txBody>
      </p:sp>
      <p:sp>
        <p:nvSpPr>
          <p:cNvPr id="8" name="Text 5"/>
          <p:cNvSpPr txBox="1"/>
          <p:nvPr/>
        </p:nvSpPr>
        <p:spPr>
          <a:xfrm>
            <a:off x="1133808" y="1733550"/>
            <a:ext cx="10387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Total Produzido</a:t>
            </a:r>
            <a:endParaRPr lang="en-US" sz="1496" dirty="0"/>
          </a:p>
        </p:txBody>
      </p:sp>
      <p:sp>
        <p:nvSpPr>
          <p:cNvPr id="9" name="Text 6"/>
          <p:cNvSpPr txBox="1"/>
          <p:nvPr/>
        </p:nvSpPr>
        <p:spPr>
          <a:xfrm>
            <a:off x="1415677" y="2012950"/>
            <a:ext cx="4750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C6C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peças</a:t>
            </a:r>
            <a:endParaRPr lang="en-US" sz="1496" dirty="0"/>
          </a:p>
        </p:txBody>
      </p:sp>
      <p:sp>
        <p:nvSpPr>
          <p:cNvPr id="10" name="Shape 7"/>
          <p:cNvSpPr/>
          <p:nvPr/>
        </p:nvSpPr>
        <p:spPr>
          <a:xfrm>
            <a:off x="3205067" y="800100"/>
            <a:ext cx="2799683" cy="1593850"/>
          </a:xfrm>
          <a:prstGeom prst="roundRect">
            <a:avLst>
              <a:gd name="adj" fmla="val 1038"/>
            </a:avLst>
          </a:prstGeom>
          <a:solidFill>
            <a:srgbClr val="16213E"/>
          </a:solidFill>
          <a:ln w="19002">
            <a:solidFill>
              <a:srgbClr val="F5A62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65558" y="971550"/>
            <a:ext cx="278702" cy="2794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21219" y="1301750"/>
            <a:ext cx="36737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23</a:t>
            </a:r>
            <a:endParaRPr lang="en-US" sz="2993" dirty="0"/>
          </a:p>
        </p:txBody>
      </p:sp>
      <p:sp>
        <p:nvSpPr>
          <p:cNvPr id="13" name="Text 9"/>
          <p:cNvSpPr txBox="1"/>
          <p:nvPr/>
        </p:nvSpPr>
        <p:spPr>
          <a:xfrm>
            <a:off x="3942993" y="1733550"/>
            <a:ext cx="1323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Meses de Operação</a:t>
            </a:r>
            <a:endParaRPr lang="en-US" sz="1496" dirty="0"/>
          </a:p>
        </p:txBody>
      </p:sp>
      <p:sp>
        <p:nvSpPr>
          <p:cNvPr id="14" name="Text 10"/>
          <p:cNvSpPr txBox="1"/>
          <p:nvPr/>
        </p:nvSpPr>
        <p:spPr>
          <a:xfrm>
            <a:off x="3676960" y="2012950"/>
            <a:ext cx="18558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C6C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Mai/2024 – Mar/2026</a:t>
            </a:r>
            <a:endParaRPr lang="en-US" sz="1496" dirty="0"/>
          </a:p>
        </p:txBody>
      </p:sp>
      <p:sp>
        <p:nvSpPr>
          <p:cNvPr id="15" name="Shape 11"/>
          <p:cNvSpPr/>
          <p:nvPr/>
        </p:nvSpPr>
        <p:spPr>
          <a:xfrm>
            <a:off x="6156770" y="800100"/>
            <a:ext cx="2799683" cy="1593850"/>
          </a:xfrm>
          <a:prstGeom prst="roundRect">
            <a:avLst>
              <a:gd name="adj" fmla="val 1038"/>
            </a:avLst>
          </a:prstGeom>
          <a:solidFill>
            <a:srgbClr val="16213E"/>
          </a:solidFill>
          <a:ln w="19002">
            <a:solidFill>
              <a:srgbClr val="F5A62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17260" y="971550"/>
            <a:ext cx="278702" cy="2794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391924" y="1301750"/>
            <a:ext cx="329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14</a:t>
            </a:r>
            <a:endParaRPr lang="en-US" sz="2993" dirty="0"/>
          </a:p>
        </p:txBody>
      </p:sp>
      <p:sp>
        <p:nvSpPr>
          <p:cNvPr id="18" name="Text 13"/>
          <p:cNvSpPr txBox="1"/>
          <p:nvPr/>
        </p:nvSpPr>
        <p:spPr>
          <a:xfrm>
            <a:off x="6856690" y="1733550"/>
            <a:ext cx="13998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Compostos Distintos</a:t>
            </a:r>
            <a:endParaRPr lang="en-US" sz="1496" dirty="0"/>
          </a:p>
        </p:txBody>
      </p:sp>
      <p:sp>
        <p:nvSpPr>
          <p:cNvPr id="19" name="Text 14"/>
          <p:cNvSpPr txBox="1"/>
          <p:nvPr/>
        </p:nvSpPr>
        <p:spPr>
          <a:xfrm>
            <a:off x="7151227" y="2012950"/>
            <a:ext cx="810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C6C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utilizados</a:t>
            </a:r>
            <a:endParaRPr lang="en-US" sz="1496" dirty="0"/>
          </a:p>
        </p:txBody>
      </p:sp>
      <p:sp>
        <p:nvSpPr>
          <p:cNvPr id="20" name="Shape 15"/>
          <p:cNvSpPr/>
          <p:nvPr/>
        </p:nvSpPr>
        <p:spPr>
          <a:xfrm>
            <a:off x="9108472" y="800100"/>
            <a:ext cx="2799683" cy="1593850"/>
          </a:xfrm>
          <a:prstGeom prst="roundRect">
            <a:avLst>
              <a:gd name="adj" fmla="val 1038"/>
            </a:avLst>
          </a:prstGeom>
          <a:solidFill>
            <a:srgbClr val="16213E"/>
          </a:solidFill>
          <a:ln w="19002">
            <a:solidFill>
              <a:srgbClr val="E9456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368963" y="971550"/>
            <a:ext cx="278702" cy="2794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045922" y="1301750"/>
            <a:ext cx="92478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E9456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1,39%</a:t>
            </a:r>
            <a:endParaRPr lang="en-US" sz="2993" dirty="0"/>
          </a:p>
        </p:txBody>
      </p:sp>
      <p:sp>
        <p:nvSpPr>
          <p:cNvPr id="23" name="Text 17"/>
          <p:cNvSpPr txBox="1"/>
          <p:nvPr/>
        </p:nvSpPr>
        <p:spPr>
          <a:xfrm>
            <a:off x="9992082" y="1733550"/>
            <a:ext cx="10324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Taxa de Refugo</a:t>
            </a:r>
            <a:endParaRPr lang="en-US" sz="1496" dirty="0"/>
          </a:p>
        </p:txBody>
      </p:sp>
      <p:sp>
        <p:nvSpPr>
          <p:cNvPr id="24" name="Text 18"/>
          <p:cNvSpPr txBox="1"/>
          <p:nvPr/>
        </p:nvSpPr>
        <p:spPr>
          <a:xfrm>
            <a:off x="10017419" y="2012950"/>
            <a:ext cx="9817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C6C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5.618 peças</a:t>
            </a:r>
            <a:endParaRPr lang="en-US" sz="1496" dirty="0"/>
          </a:p>
        </p:txBody>
      </p:sp>
      <p:sp>
        <p:nvSpPr>
          <p:cNvPr id="25" name="Shape 19"/>
          <p:cNvSpPr/>
          <p:nvPr/>
        </p:nvSpPr>
        <p:spPr>
          <a:xfrm>
            <a:off x="253365" y="2495550"/>
            <a:ext cx="6921912" cy="3765550"/>
          </a:xfrm>
          <a:prstGeom prst="roundRect">
            <a:avLst>
              <a:gd name="adj" fmla="val 178"/>
            </a:avLst>
          </a:prstGeom>
          <a:solidFill>
            <a:srgbClr val="16213E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506730" y="2698750"/>
            <a:ext cx="641518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Destaques do Período</a:t>
            </a:r>
            <a:endParaRPr lang="en-US" sz="1795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06730" y="3105150"/>
            <a:ext cx="202692" cy="2032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85432" y="3079750"/>
            <a:ext cx="61364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Produção crescente com pico em Set/2025: </a:t>
            </a:r>
            <a:pPr algn="l" indent="0" marL="0">
              <a:buNone/>
            </a:pPr>
            <a:r>
              <a:rPr lang="en-US" sz="1496" b="1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115.579 peças</a:t>
            </a:r>
            <a:pPr algn="l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em um único mês</a:t>
            </a:r>
            <a:endParaRPr lang="en-US" sz="1496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06730" y="3689350"/>
            <a:ext cx="202692" cy="20320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85432" y="3663950"/>
            <a:ext cx="47315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F424/40 MARROM lidera com </a:t>
            </a:r>
            <a:pPr algn="l" indent="0" marL="0">
              <a:buNone/>
            </a:pPr>
            <a:r>
              <a:rPr lang="en-US" sz="1496" b="1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44,36 %</a:t>
            </a:r>
            <a:pPr algn="l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da produção total</a:t>
            </a:r>
            <a:endParaRPr lang="en-US" sz="1496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06730" y="4044950"/>
            <a:ext cx="202692" cy="20320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785432" y="4019550"/>
            <a:ext cx="55613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Taxa de refugo estável e abaixo de </a:t>
            </a:r>
            <a:pPr algn="l" indent="0" marL="0">
              <a:buNone/>
            </a:pPr>
            <a:r>
              <a:rPr lang="en-US" sz="1496" b="1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1,5 %</a:t>
            </a:r>
            <a:pPr algn="l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ao longo de todo o período</a:t>
            </a:r>
            <a:endParaRPr lang="en-US" sz="1496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06730" y="4400550"/>
            <a:ext cx="202692" cy="20320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785432" y="4375150"/>
            <a:ext cx="6061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Manutenção preventiva realizada em </a:t>
            </a:r>
            <a:pPr algn="l" indent="0" marL="0">
              <a:buNone/>
            </a:pPr>
            <a:r>
              <a:rPr lang="en-US" sz="1496" b="1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Dez/2025</a:t>
            </a:r>
            <a:pPr algn="l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— próxima em </a:t>
            </a:r>
            <a:pPr algn="l" indent="0" marL="0">
              <a:buNone/>
            </a:pPr>
            <a:r>
              <a:rPr lang="en-US" sz="1496" b="1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Nov/2027</a:t>
            </a:r>
            <a:endParaRPr lang="en-US" sz="1496" dirty="0"/>
          </a:p>
        </p:txBody>
      </p:sp>
      <p:sp>
        <p:nvSpPr>
          <p:cNvPr id="35" name="Shape 25"/>
          <p:cNvSpPr/>
          <p:nvPr/>
        </p:nvSpPr>
        <p:spPr>
          <a:xfrm>
            <a:off x="7327296" y="2495550"/>
            <a:ext cx="4580859" cy="3765550"/>
          </a:xfrm>
          <a:prstGeom prst="roundRect">
            <a:avLst>
              <a:gd name="adj" fmla="val 269"/>
            </a:avLst>
          </a:prstGeom>
          <a:solidFill>
            <a:srgbClr val="16213E"/>
          </a:solidFill>
          <a:ln/>
        </p:spPr>
      </p:sp>
      <p:sp>
        <p:nvSpPr>
          <p:cNvPr id="36" name="Text 26"/>
          <p:cNvSpPr txBox="1"/>
          <p:nvPr/>
        </p:nvSpPr>
        <p:spPr>
          <a:xfrm>
            <a:off x="8689727" y="2647950"/>
            <a:ext cx="18558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Aprovado vs. Refugado</a:t>
            </a:r>
            <a:endParaRPr lang="en-US" sz="1795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479315" y="3003550"/>
            <a:ext cx="3097387" cy="3105150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0" y="6413500"/>
            <a:ext cx="12161520" cy="444500"/>
          </a:xfrm>
          <a:prstGeom prst="rect">
            <a:avLst/>
          </a:prstGeom>
          <a:solidFill>
            <a:srgbClr val="16213E"/>
          </a:solidFill>
          <a:ln w="12668">
            <a:solidFill>
              <a:srgbClr val="F5A623"/>
            </a:solidFill>
            <a:prstDash val="solid"/>
          </a:ln>
        </p:spPr>
      </p:sp>
      <p:sp>
        <p:nvSpPr>
          <p:cNvPr id="39" name="Text 28"/>
          <p:cNvSpPr txBox="1"/>
          <p:nvPr/>
        </p:nvSpPr>
        <p:spPr>
          <a:xfrm>
            <a:off x="304038" y="6527800"/>
            <a:ext cx="333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C6C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Relatório Mensal — Componente IJ-044</a:t>
            </a:r>
            <a:endParaRPr lang="en-US" sz="1496" dirty="0"/>
          </a:p>
        </p:txBody>
      </p:sp>
      <p:sp>
        <p:nvSpPr>
          <p:cNvPr id="40" name="Text 29"/>
          <p:cNvSpPr txBox="1"/>
          <p:nvPr/>
        </p:nvSpPr>
        <p:spPr>
          <a:xfrm>
            <a:off x="9919240" y="6527800"/>
            <a:ext cx="19382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C6C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Mai/2024 → Mar/2026</a:t>
            </a:r>
            <a:endParaRPr lang="en-US" sz="149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7700"/>
          </a:xfrm>
          <a:prstGeom prst="rect">
            <a:avLst/>
          </a:prstGeom>
          <a:solidFill>
            <a:srgbClr val="16213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04038" y="127000"/>
            <a:ext cx="43388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EAEAE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Tendências de Produção Mensal</a:t>
            </a:r>
            <a:endParaRPr lang="en-US" sz="2993" dirty="0"/>
          </a:p>
        </p:txBody>
      </p:sp>
      <p:sp>
        <p:nvSpPr>
          <p:cNvPr id="4" name="Text 2"/>
          <p:cNvSpPr txBox="1"/>
          <p:nvPr/>
        </p:nvSpPr>
        <p:spPr>
          <a:xfrm>
            <a:off x="11325416" y="190500"/>
            <a:ext cx="5320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IJ-044</a:t>
            </a:r>
            <a:endParaRPr lang="en-US" sz="1795" dirty="0"/>
          </a:p>
        </p:txBody>
      </p:sp>
      <p:sp>
        <p:nvSpPr>
          <p:cNvPr id="5" name="Shape 3"/>
          <p:cNvSpPr/>
          <p:nvPr/>
        </p:nvSpPr>
        <p:spPr>
          <a:xfrm>
            <a:off x="253365" y="774700"/>
            <a:ext cx="3783551" cy="1244600"/>
          </a:xfrm>
          <a:prstGeom prst="roundRect">
            <a:avLst>
              <a:gd name="adj" fmla="val 984"/>
            </a:avLst>
          </a:prstGeom>
          <a:solidFill>
            <a:srgbClr val="16213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6057" y="1244600"/>
            <a:ext cx="304038" cy="304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2114" y="901700"/>
            <a:ext cx="29221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E9456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115.579</a:t>
            </a:r>
            <a:endParaRPr lang="en-US" sz="2394" dirty="0"/>
          </a:p>
        </p:txBody>
      </p:sp>
      <p:sp>
        <p:nvSpPr>
          <p:cNvPr id="8" name="Text 5"/>
          <p:cNvSpPr txBox="1"/>
          <p:nvPr/>
        </p:nvSpPr>
        <p:spPr>
          <a:xfrm>
            <a:off x="912114" y="1206500"/>
            <a:ext cx="2922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Pico de Produção</a:t>
            </a:r>
            <a:endParaRPr lang="en-US" sz="1496" dirty="0"/>
          </a:p>
        </p:txBody>
      </p:sp>
      <p:sp>
        <p:nvSpPr>
          <p:cNvPr id="9" name="Text 6"/>
          <p:cNvSpPr txBox="1"/>
          <p:nvPr/>
        </p:nvSpPr>
        <p:spPr>
          <a:xfrm>
            <a:off x="912114" y="1435100"/>
            <a:ext cx="2922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C6C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Setembro/2025 — recorde do período</a:t>
            </a:r>
            <a:endParaRPr lang="en-US" sz="1496" dirty="0"/>
          </a:p>
        </p:txBody>
      </p:sp>
      <p:sp>
        <p:nvSpPr>
          <p:cNvPr id="10" name="Shape 7"/>
          <p:cNvSpPr/>
          <p:nvPr/>
        </p:nvSpPr>
        <p:spPr>
          <a:xfrm>
            <a:off x="4188935" y="774700"/>
            <a:ext cx="3783650" cy="1244600"/>
          </a:xfrm>
          <a:prstGeom prst="roundRect">
            <a:avLst>
              <a:gd name="adj" fmla="val 984"/>
            </a:avLst>
          </a:prstGeom>
          <a:solidFill>
            <a:srgbClr val="16213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91627" y="1244600"/>
            <a:ext cx="304038" cy="3048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847684" y="1016000"/>
            <a:ext cx="215360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17.514</a:t>
            </a:r>
            <a:endParaRPr lang="en-US" sz="2394" dirty="0"/>
          </a:p>
        </p:txBody>
      </p:sp>
      <p:sp>
        <p:nvSpPr>
          <p:cNvPr id="13" name="Text 9"/>
          <p:cNvSpPr txBox="1"/>
          <p:nvPr/>
        </p:nvSpPr>
        <p:spPr>
          <a:xfrm>
            <a:off x="4847684" y="1320800"/>
            <a:ext cx="21536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Média Mensal</a:t>
            </a:r>
            <a:endParaRPr lang="en-US" sz="1496" dirty="0"/>
          </a:p>
        </p:txBody>
      </p:sp>
      <p:sp>
        <p:nvSpPr>
          <p:cNvPr id="14" name="Text 10"/>
          <p:cNvSpPr txBox="1"/>
          <p:nvPr/>
        </p:nvSpPr>
        <p:spPr>
          <a:xfrm>
            <a:off x="4847684" y="1549400"/>
            <a:ext cx="21536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C6C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Calculada sobre 23 meses</a:t>
            </a:r>
            <a:endParaRPr lang="en-US" sz="1496" dirty="0"/>
          </a:p>
        </p:txBody>
      </p:sp>
      <p:sp>
        <p:nvSpPr>
          <p:cNvPr id="15" name="Shape 11"/>
          <p:cNvSpPr/>
          <p:nvPr/>
        </p:nvSpPr>
        <p:spPr>
          <a:xfrm>
            <a:off x="8124604" y="774700"/>
            <a:ext cx="3783551" cy="1244600"/>
          </a:xfrm>
          <a:prstGeom prst="roundRect">
            <a:avLst>
              <a:gd name="adj" fmla="val 984"/>
            </a:avLst>
          </a:prstGeom>
          <a:solidFill>
            <a:srgbClr val="16213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27296" y="1244600"/>
            <a:ext cx="304038" cy="3048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783353" y="901700"/>
            <a:ext cx="29221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2.869</a:t>
            </a:r>
            <a:endParaRPr lang="en-US" sz="2394" dirty="0"/>
          </a:p>
        </p:txBody>
      </p:sp>
      <p:sp>
        <p:nvSpPr>
          <p:cNvPr id="18" name="Text 13"/>
          <p:cNvSpPr txBox="1"/>
          <p:nvPr/>
        </p:nvSpPr>
        <p:spPr>
          <a:xfrm>
            <a:off x="8783353" y="1206500"/>
            <a:ext cx="2922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Menor Mês</a:t>
            </a:r>
            <a:endParaRPr lang="en-US" sz="1496" dirty="0"/>
          </a:p>
        </p:txBody>
      </p:sp>
      <p:sp>
        <p:nvSpPr>
          <p:cNvPr id="19" name="Text 14"/>
          <p:cNvSpPr txBox="1"/>
          <p:nvPr/>
        </p:nvSpPr>
        <p:spPr>
          <a:xfrm>
            <a:off x="8783353" y="1435100"/>
            <a:ext cx="2922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C6C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Agosto/2024 — menor volume registrado</a:t>
            </a:r>
            <a:endParaRPr lang="en-US" sz="1496" dirty="0"/>
          </a:p>
        </p:txBody>
      </p:sp>
      <p:sp>
        <p:nvSpPr>
          <p:cNvPr id="20" name="Shape 15"/>
          <p:cNvSpPr/>
          <p:nvPr/>
        </p:nvSpPr>
        <p:spPr>
          <a:xfrm>
            <a:off x="253365" y="2120900"/>
            <a:ext cx="11654790" cy="4165600"/>
          </a:xfrm>
          <a:prstGeom prst="roundRect">
            <a:avLst>
              <a:gd name="adj" fmla="val 95"/>
            </a:avLst>
          </a:prstGeom>
          <a:solidFill>
            <a:srgbClr val="16213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6057" y="2273300"/>
            <a:ext cx="11249406" cy="386080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0" y="6413500"/>
            <a:ext cx="12161520" cy="444500"/>
          </a:xfrm>
          <a:prstGeom prst="rect">
            <a:avLst/>
          </a:prstGeom>
          <a:solidFill>
            <a:srgbClr val="16213E"/>
          </a:solidFill>
          <a:ln w="12668">
            <a:solidFill>
              <a:srgbClr val="F5A623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304038" y="6527800"/>
            <a:ext cx="333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C6C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Relatório Mensal — Componente IJ-044</a:t>
            </a:r>
            <a:endParaRPr lang="en-US" sz="1496" dirty="0"/>
          </a:p>
        </p:txBody>
      </p:sp>
      <p:sp>
        <p:nvSpPr>
          <p:cNvPr id="24" name="Text 18"/>
          <p:cNvSpPr txBox="1"/>
          <p:nvPr/>
        </p:nvSpPr>
        <p:spPr>
          <a:xfrm>
            <a:off x="9919240" y="6527800"/>
            <a:ext cx="19382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C6C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Mai/2024 → Mar/2026</a:t>
            </a:r>
            <a:endParaRPr lang="en-US" sz="149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7700"/>
          </a:xfrm>
          <a:prstGeom prst="rect">
            <a:avLst/>
          </a:prstGeom>
          <a:solidFill>
            <a:srgbClr val="16213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04038" y="127000"/>
            <a:ext cx="462391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EAEAE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Análise de Materiais e Compostos</a:t>
            </a:r>
            <a:endParaRPr lang="en-US" sz="2993" dirty="0"/>
          </a:p>
        </p:txBody>
      </p:sp>
      <p:sp>
        <p:nvSpPr>
          <p:cNvPr id="4" name="Text 2"/>
          <p:cNvSpPr txBox="1"/>
          <p:nvPr/>
        </p:nvSpPr>
        <p:spPr>
          <a:xfrm>
            <a:off x="11325416" y="190500"/>
            <a:ext cx="5320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IJ-044</a:t>
            </a:r>
            <a:endParaRPr lang="en-US" sz="1795" dirty="0"/>
          </a:p>
        </p:txBody>
      </p:sp>
      <p:sp>
        <p:nvSpPr>
          <p:cNvPr id="5" name="Shape 3"/>
          <p:cNvSpPr/>
          <p:nvPr/>
        </p:nvSpPr>
        <p:spPr>
          <a:xfrm>
            <a:off x="253365" y="800100"/>
            <a:ext cx="5751386" cy="5461000"/>
          </a:xfrm>
          <a:prstGeom prst="roundRect">
            <a:avLst>
              <a:gd name="adj" fmla="val 148"/>
            </a:avLst>
          </a:prstGeom>
          <a:solidFill>
            <a:srgbClr val="1621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05384" y="952500"/>
            <a:ext cx="544734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Volume por Composto</a:t>
            </a:r>
            <a:endParaRPr lang="en-US" sz="1795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5384" y="1282700"/>
            <a:ext cx="5447348" cy="4826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56770" y="800100"/>
            <a:ext cx="5751386" cy="2057400"/>
          </a:xfrm>
          <a:prstGeom prst="roundRect">
            <a:avLst>
              <a:gd name="adj" fmla="val 392"/>
            </a:avLst>
          </a:prstGeom>
          <a:solidFill>
            <a:srgbClr val="16213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91132" y="952500"/>
            <a:ext cx="53143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Composto Dominante</a:t>
            </a:r>
            <a:endParaRPr lang="en-US" sz="1496" dirty="0"/>
          </a:p>
        </p:txBody>
      </p:sp>
      <p:sp>
        <p:nvSpPr>
          <p:cNvPr id="10" name="Text 7"/>
          <p:cNvSpPr txBox="1"/>
          <p:nvPr/>
        </p:nvSpPr>
        <p:spPr>
          <a:xfrm>
            <a:off x="6391132" y="1181100"/>
            <a:ext cx="531433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F424/40 MARROM</a:t>
            </a:r>
            <a:endParaRPr lang="en-US" sz="1795" dirty="0"/>
          </a:p>
        </p:txBody>
      </p:sp>
      <p:sp>
        <p:nvSpPr>
          <p:cNvPr id="11" name="Text 8"/>
          <p:cNvSpPr txBox="1"/>
          <p:nvPr/>
        </p:nvSpPr>
        <p:spPr>
          <a:xfrm>
            <a:off x="6391132" y="1536700"/>
            <a:ext cx="26064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E9456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44,36%</a:t>
            </a:r>
            <a:endParaRPr lang="en-US" sz="2394" dirty="0"/>
          </a:p>
        </p:txBody>
      </p:sp>
      <p:sp>
        <p:nvSpPr>
          <p:cNvPr id="12" name="Text 9"/>
          <p:cNvSpPr txBox="1"/>
          <p:nvPr/>
        </p:nvSpPr>
        <p:spPr>
          <a:xfrm>
            <a:off x="6391132" y="1841500"/>
            <a:ext cx="26064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do total produzido</a:t>
            </a:r>
            <a:endParaRPr lang="en-US" sz="1496" dirty="0"/>
          </a:p>
        </p:txBody>
      </p:sp>
      <p:sp>
        <p:nvSpPr>
          <p:cNvPr id="13" name="Text 10"/>
          <p:cNvSpPr txBox="1"/>
          <p:nvPr/>
        </p:nvSpPr>
        <p:spPr>
          <a:xfrm>
            <a:off x="9098971" y="1536700"/>
            <a:ext cx="26064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E9456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178.695</a:t>
            </a:r>
            <a:endParaRPr lang="en-US" sz="2394" dirty="0"/>
          </a:p>
        </p:txBody>
      </p:sp>
      <p:sp>
        <p:nvSpPr>
          <p:cNvPr id="14" name="Text 11"/>
          <p:cNvSpPr txBox="1"/>
          <p:nvPr/>
        </p:nvSpPr>
        <p:spPr>
          <a:xfrm>
            <a:off x="9098971" y="1841500"/>
            <a:ext cx="26064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peças</a:t>
            </a:r>
            <a:endParaRPr lang="en-US" sz="1496" dirty="0"/>
          </a:p>
        </p:txBody>
      </p:sp>
      <p:sp>
        <p:nvSpPr>
          <p:cNvPr id="15" name="Text 12"/>
          <p:cNvSpPr txBox="1"/>
          <p:nvPr/>
        </p:nvSpPr>
        <p:spPr>
          <a:xfrm>
            <a:off x="6391132" y="2171700"/>
            <a:ext cx="26064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11</a:t>
            </a:r>
            <a:endParaRPr lang="en-US" sz="2394" dirty="0"/>
          </a:p>
        </p:txBody>
      </p:sp>
      <p:sp>
        <p:nvSpPr>
          <p:cNvPr id="16" name="Text 13"/>
          <p:cNvSpPr txBox="1"/>
          <p:nvPr/>
        </p:nvSpPr>
        <p:spPr>
          <a:xfrm>
            <a:off x="6391132" y="2476500"/>
            <a:ext cx="26064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meses com uso</a:t>
            </a:r>
            <a:endParaRPr lang="en-US" sz="1496" dirty="0"/>
          </a:p>
        </p:txBody>
      </p:sp>
      <p:sp>
        <p:nvSpPr>
          <p:cNvPr id="17" name="Text 14"/>
          <p:cNvSpPr txBox="1"/>
          <p:nvPr/>
        </p:nvSpPr>
        <p:spPr>
          <a:xfrm>
            <a:off x="9098971" y="2171700"/>
            <a:ext cx="26064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1.367</a:t>
            </a:r>
            <a:endParaRPr lang="en-US" sz="2394" dirty="0"/>
          </a:p>
        </p:txBody>
      </p:sp>
      <p:sp>
        <p:nvSpPr>
          <p:cNvPr id="18" name="Text 15"/>
          <p:cNvSpPr txBox="1"/>
          <p:nvPr/>
        </p:nvSpPr>
        <p:spPr>
          <a:xfrm>
            <a:off x="9098971" y="2476500"/>
            <a:ext cx="26064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peças refugadas</a:t>
            </a:r>
            <a:endParaRPr lang="en-US" sz="1496" dirty="0"/>
          </a:p>
        </p:txBody>
      </p:sp>
      <p:sp>
        <p:nvSpPr>
          <p:cNvPr id="19" name="Shape 16"/>
          <p:cNvSpPr/>
          <p:nvPr/>
        </p:nvSpPr>
        <p:spPr>
          <a:xfrm>
            <a:off x="6156770" y="2984500"/>
            <a:ext cx="5751386" cy="3276600"/>
          </a:xfrm>
          <a:prstGeom prst="roundRect">
            <a:avLst>
              <a:gd name="adj" fmla="val 246"/>
            </a:avLst>
          </a:prstGeom>
          <a:solidFill>
            <a:srgbClr val="16213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96120" y="3060700"/>
            <a:ext cx="1860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Composto</a:t>
            </a:r>
            <a:endParaRPr lang="en-US" sz="1496" dirty="0"/>
          </a:p>
        </p:txBody>
      </p:sp>
      <p:sp>
        <p:nvSpPr>
          <p:cNvPr id="21" name="Text 18"/>
          <p:cNvSpPr txBox="1"/>
          <p:nvPr/>
        </p:nvSpPr>
        <p:spPr>
          <a:xfrm>
            <a:off x="8409937" y="3060700"/>
            <a:ext cx="7964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96" b="1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Produzido</a:t>
            </a:r>
            <a:endParaRPr lang="en-US" sz="1496" dirty="0"/>
          </a:p>
        </p:txBody>
      </p:sp>
      <p:sp>
        <p:nvSpPr>
          <p:cNvPr id="22" name="Text 19"/>
          <p:cNvSpPr txBox="1"/>
          <p:nvPr/>
        </p:nvSpPr>
        <p:spPr>
          <a:xfrm>
            <a:off x="9459719" y="3060700"/>
            <a:ext cx="7254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96" b="1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% Total</a:t>
            </a:r>
            <a:endParaRPr lang="en-US" sz="1496" dirty="0"/>
          </a:p>
        </p:txBody>
      </p:sp>
      <p:sp>
        <p:nvSpPr>
          <p:cNvPr id="23" name="Text 20"/>
          <p:cNvSpPr txBox="1"/>
          <p:nvPr/>
        </p:nvSpPr>
        <p:spPr>
          <a:xfrm>
            <a:off x="10438539" y="3060700"/>
            <a:ext cx="57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96" b="1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Refugo</a:t>
            </a:r>
            <a:endParaRPr lang="en-US" sz="1496" dirty="0"/>
          </a:p>
        </p:txBody>
      </p:sp>
      <p:sp>
        <p:nvSpPr>
          <p:cNvPr id="24" name="Text 21"/>
          <p:cNvSpPr txBox="1"/>
          <p:nvPr/>
        </p:nvSpPr>
        <p:spPr>
          <a:xfrm>
            <a:off x="11268408" y="3060700"/>
            <a:ext cx="513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96" b="1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Meses</a:t>
            </a:r>
            <a:endParaRPr lang="en-US" sz="1496" dirty="0"/>
          </a:p>
        </p:txBody>
      </p:sp>
      <p:sp>
        <p:nvSpPr>
          <p:cNvPr id="25" name="Text 22"/>
          <p:cNvSpPr txBox="1"/>
          <p:nvPr/>
        </p:nvSpPr>
        <p:spPr>
          <a:xfrm>
            <a:off x="6308789" y="3492500"/>
            <a:ext cx="18477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E9456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F424/40 MARROM</a:t>
            </a:r>
            <a:endParaRPr lang="en-US" sz="1496" dirty="0"/>
          </a:p>
        </p:txBody>
      </p:sp>
      <p:sp>
        <p:nvSpPr>
          <p:cNvPr id="26" name="Text 23"/>
          <p:cNvSpPr txBox="1"/>
          <p:nvPr/>
        </p:nvSpPr>
        <p:spPr>
          <a:xfrm>
            <a:off x="8409937" y="3492500"/>
            <a:ext cx="7964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178.695</a:t>
            </a:r>
            <a:endParaRPr lang="en-US" sz="1496" dirty="0"/>
          </a:p>
        </p:txBody>
      </p:sp>
      <p:sp>
        <p:nvSpPr>
          <p:cNvPr id="27" name="Text 24"/>
          <p:cNvSpPr txBox="1"/>
          <p:nvPr/>
        </p:nvSpPr>
        <p:spPr>
          <a:xfrm>
            <a:off x="9459719" y="3492500"/>
            <a:ext cx="7254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44,36%</a:t>
            </a:r>
            <a:endParaRPr lang="en-US" sz="1496" dirty="0"/>
          </a:p>
        </p:txBody>
      </p:sp>
      <p:sp>
        <p:nvSpPr>
          <p:cNvPr id="28" name="Text 25"/>
          <p:cNvSpPr txBox="1"/>
          <p:nvPr/>
        </p:nvSpPr>
        <p:spPr>
          <a:xfrm>
            <a:off x="10438539" y="3492500"/>
            <a:ext cx="57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1.367</a:t>
            </a:r>
            <a:endParaRPr lang="en-US" sz="1496" dirty="0"/>
          </a:p>
        </p:txBody>
      </p:sp>
      <p:sp>
        <p:nvSpPr>
          <p:cNvPr id="29" name="Text 26"/>
          <p:cNvSpPr txBox="1"/>
          <p:nvPr/>
        </p:nvSpPr>
        <p:spPr>
          <a:xfrm>
            <a:off x="11268408" y="3492500"/>
            <a:ext cx="513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11</a:t>
            </a:r>
            <a:endParaRPr lang="en-US" sz="1496" dirty="0"/>
          </a:p>
        </p:txBody>
      </p:sp>
      <p:sp>
        <p:nvSpPr>
          <p:cNvPr id="30" name="Text 27"/>
          <p:cNvSpPr txBox="1"/>
          <p:nvPr/>
        </p:nvSpPr>
        <p:spPr>
          <a:xfrm>
            <a:off x="6296120" y="3975100"/>
            <a:ext cx="1860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MASSA F420/191</a:t>
            </a:r>
            <a:endParaRPr lang="en-US" sz="1496" dirty="0"/>
          </a:p>
        </p:txBody>
      </p:sp>
      <p:sp>
        <p:nvSpPr>
          <p:cNvPr id="31" name="Text 28"/>
          <p:cNvSpPr txBox="1"/>
          <p:nvPr/>
        </p:nvSpPr>
        <p:spPr>
          <a:xfrm>
            <a:off x="8409937" y="3975100"/>
            <a:ext cx="7964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43.518</a:t>
            </a:r>
            <a:endParaRPr lang="en-US" sz="1496" dirty="0"/>
          </a:p>
        </p:txBody>
      </p:sp>
      <p:sp>
        <p:nvSpPr>
          <p:cNvPr id="32" name="Text 29"/>
          <p:cNvSpPr txBox="1"/>
          <p:nvPr/>
        </p:nvSpPr>
        <p:spPr>
          <a:xfrm>
            <a:off x="9459719" y="3975100"/>
            <a:ext cx="7254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10,80%</a:t>
            </a:r>
            <a:endParaRPr lang="en-US" sz="1496" dirty="0"/>
          </a:p>
        </p:txBody>
      </p:sp>
      <p:sp>
        <p:nvSpPr>
          <p:cNvPr id="33" name="Text 30"/>
          <p:cNvSpPr txBox="1"/>
          <p:nvPr/>
        </p:nvSpPr>
        <p:spPr>
          <a:xfrm>
            <a:off x="10438539" y="3975100"/>
            <a:ext cx="57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497</a:t>
            </a:r>
            <a:endParaRPr lang="en-US" sz="1496" dirty="0"/>
          </a:p>
        </p:txBody>
      </p:sp>
      <p:sp>
        <p:nvSpPr>
          <p:cNvPr id="34" name="Text 31"/>
          <p:cNvSpPr txBox="1"/>
          <p:nvPr/>
        </p:nvSpPr>
        <p:spPr>
          <a:xfrm>
            <a:off x="11268408" y="3975100"/>
            <a:ext cx="513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16</a:t>
            </a:r>
            <a:endParaRPr lang="en-US" sz="1496" dirty="0"/>
          </a:p>
        </p:txBody>
      </p:sp>
      <p:sp>
        <p:nvSpPr>
          <p:cNvPr id="35" name="Text 32"/>
          <p:cNvSpPr txBox="1"/>
          <p:nvPr/>
        </p:nvSpPr>
        <p:spPr>
          <a:xfrm>
            <a:off x="6296120" y="4457700"/>
            <a:ext cx="1860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N148/18</a:t>
            </a:r>
            <a:endParaRPr lang="en-US" sz="1496" dirty="0"/>
          </a:p>
        </p:txBody>
      </p:sp>
      <p:sp>
        <p:nvSpPr>
          <p:cNvPr id="36" name="Text 33"/>
          <p:cNvSpPr txBox="1"/>
          <p:nvPr/>
        </p:nvSpPr>
        <p:spPr>
          <a:xfrm>
            <a:off x="8409937" y="4457700"/>
            <a:ext cx="7964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43.146</a:t>
            </a:r>
            <a:endParaRPr lang="en-US" sz="1496" dirty="0"/>
          </a:p>
        </p:txBody>
      </p:sp>
      <p:sp>
        <p:nvSpPr>
          <p:cNvPr id="37" name="Text 34"/>
          <p:cNvSpPr txBox="1"/>
          <p:nvPr/>
        </p:nvSpPr>
        <p:spPr>
          <a:xfrm>
            <a:off x="9459719" y="4457700"/>
            <a:ext cx="7254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10,71%</a:t>
            </a:r>
            <a:endParaRPr lang="en-US" sz="1496" dirty="0"/>
          </a:p>
        </p:txBody>
      </p:sp>
      <p:sp>
        <p:nvSpPr>
          <p:cNvPr id="38" name="Text 35"/>
          <p:cNvSpPr txBox="1"/>
          <p:nvPr/>
        </p:nvSpPr>
        <p:spPr>
          <a:xfrm>
            <a:off x="10438539" y="4457700"/>
            <a:ext cx="57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622</a:t>
            </a:r>
            <a:endParaRPr lang="en-US" sz="1496" dirty="0"/>
          </a:p>
        </p:txBody>
      </p:sp>
      <p:sp>
        <p:nvSpPr>
          <p:cNvPr id="39" name="Text 36"/>
          <p:cNvSpPr txBox="1"/>
          <p:nvPr/>
        </p:nvSpPr>
        <p:spPr>
          <a:xfrm>
            <a:off x="11268408" y="4457700"/>
            <a:ext cx="513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10</a:t>
            </a:r>
            <a:endParaRPr lang="en-US" sz="1496" dirty="0"/>
          </a:p>
        </p:txBody>
      </p:sp>
      <p:sp>
        <p:nvSpPr>
          <p:cNvPr id="40" name="Text 37"/>
          <p:cNvSpPr txBox="1"/>
          <p:nvPr/>
        </p:nvSpPr>
        <p:spPr>
          <a:xfrm>
            <a:off x="6296120" y="4940300"/>
            <a:ext cx="1860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MASSA F403/32</a:t>
            </a:r>
            <a:endParaRPr lang="en-US" sz="1496" dirty="0"/>
          </a:p>
        </p:txBody>
      </p:sp>
      <p:sp>
        <p:nvSpPr>
          <p:cNvPr id="41" name="Text 38"/>
          <p:cNvSpPr txBox="1"/>
          <p:nvPr/>
        </p:nvSpPr>
        <p:spPr>
          <a:xfrm>
            <a:off x="8409937" y="4940300"/>
            <a:ext cx="7964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38.671</a:t>
            </a:r>
            <a:endParaRPr lang="en-US" sz="1496" dirty="0"/>
          </a:p>
        </p:txBody>
      </p:sp>
      <p:sp>
        <p:nvSpPr>
          <p:cNvPr id="42" name="Text 39"/>
          <p:cNvSpPr txBox="1"/>
          <p:nvPr/>
        </p:nvSpPr>
        <p:spPr>
          <a:xfrm>
            <a:off x="9459719" y="4940300"/>
            <a:ext cx="7254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9,60%</a:t>
            </a:r>
            <a:endParaRPr lang="en-US" sz="1496" dirty="0"/>
          </a:p>
        </p:txBody>
      </p:sp>
      <p:sp>
        <p:nvSpPr>
          <p:cNvPr id="43" name="Text 40"/>
          <p:cNvSpPr txBox="1"/>
          <p:nvPr/>
        </p:nvSpPr>
        <p:spPr>
          <a:xfrm>
            <a:off x="10438539" y="4940300"/>
            <a:ext cx="57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788</a:t>
            </a:r>
            <a:endParaRPr lang="en-US" sz="1496" dirty="0"/>
          </a:p>
        </p:txBody>
      </p:sp>
      <p:sp>
        <p:nvSpPr>
          <p:cNvPr id="44" name="Text 41"/>
          <p:cNvSpPr txBox="1"/>
          <p:nvPr/>
        </p:nvSpPr>
        <p:spPr>
          <a:xfrm>
            <a:off x="11268408" y="4940300"/>
            <a:ext cx="513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15</a:t>
            </a:r>
            <a:endParaRPr lang="en-US" sz="1496" dirty="0"/>
          </a:p>
        </p:txBody>
      </p:sp>
      <p:sp>
        <p:nvSpPr>
          <p:cNvPr id="45" name="Text 42"/>
          <p:cNvSpPr txBox="1"/>
          <p:nvPr/>
        </p:nvSpPr>
        <p:spPr>
          <a:xfrm>
            <a:off x="6296120" y="5422900"/>
            <a:ext cx="1860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P250/14</a:t>
            </a:r>
            <a:endParaRPr lang="en-US" sz="1496" dirty="0"/>
          </a:p>
        </p:txBody>
      </p:sp>
      <p:sp>
        <p:nvSpPr>
          <p:cNvPr id="46" name="Text 43"/>
          <p:cNvSpPr txBox="1"/>
          <p:nvPr/>
        </p:nvSpPr>
        <p:spPr>
          <a:xfrm>
            <a:off x="8409937" y="5422900"/>
            <a:ext cx="7964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36.322</a:t>
            </a:r>
            <a:endParaRPr lang="en-US" sz="1496" dirty="0"/>
          </a:p>
        </p:txBody>
      </p:sp>
      <p:sp>
        <p:nvSpPr>
          <p:cNvPr id="47" name="Text 44"/>
          <p:cNvSpPr txBox="1"/>
          <p:nvPr/>
        </p:nvSpPr>
        <p:spPr>
          <a:xfrm>
            <a:off x="9459719" y="5422900"/>
            <a:ext cx="7254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9,02%</a:t>
            </a:r>
            <a:endParaRPr lang="en-US" sz="1496" dirty="0"/>
          </a:p>
        </p:txBody>
      </p:sp>
      <p:sp>
        <p:nvSpPr>
          <p:cNvPr id="48" name="Text 45"/>
          <p:cNvSpPr txBox="1"/>
          <p:nvPr/>
        </p:nvSpPr>
        <p:spPr>
          <a:xfrm>
            <a:off x="10438539" y="5422900"/>
            <a:ext cx="57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819</a:t>
            </a:r>
            <a:endParaRPr lang="en-US" sz="1496" dirty="0"/>
          </a:p>
        </p:txBody>
      </p:sp>
      <p:sp>
        <p:nvSpPr>
          <p:cNvPr id="49" name="Text 46"/>
          <p:cNvSpPr txBox="1"/>
          <p:nvPr/>
        </p:nvSpPr>
        <p:spPr>
          <a:xfrm>
            <a:off x="11268408" y="5422900"/>
            <a:ext cx="513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8</a:t>
            </a:r>
            <a:endParaRPr lang="en-US" sz="1496" dirty="0"/>
          </a:p>
        </p:txBody>
      </p:sp>
      <p:sp>
        <p:nvSpPr>
          <p:cNvPr id="50" name="Text 47"/>
          <p:cNvSpPr txBox="1"/>
          <p:nvPr/>
        </p:nvSpPr>
        <p:spPr>
          <a:xfrm>
            <a:off x="6296120" y="5905500"/>
            <a:ext cx="1860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MASSA F420/95</a:t>
            </a:r>
            <a:endParaRPr lang="en-US" sz="1496" dirty="0"/>
          </a:p>
        </p:txBody>
      </p:sp>
      <p:sp>
        <p:nvSpPr>
          <p:cNvPr id="51" name="Text 48"/>
          <p:cNvSpPr txBox="1"/>
          <p:nvPr/>
        </p:nvSpPr>
        <p:spPr>
          <a:xfrm>
            <a:off x="8409937" y="5905500"/>
            <a:ext cx="7964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21.164</a:t>
            </a:r>
            <a:endParaRPr lang="en-US" sz="1496" dirty="0"/>
          </a:p>
        </p:txBody>
      </p:sp>
      <p:sp>
        <p:nvSpPr>
          <p:cNvPr id="52" name="Text 49"/>
          <p:cNvSpPr txBox="1"/>
          <p:nvPr/>
        </p:nvSpPr>
        <p:spPr>
          <a:xfrm>
            <a:off x="9459719" y="5905500"/>
            <a:ext cx="7254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5,25%</a:t>
            </a:r>
            <a:endParaRPr lang="en-US" sz="1496" dirty="0"/>
          </a:p>
        </p:txBody>
      </p:sp>
      <p:sp>
        <p:nvSpPr>
          <p:cNvPr id="53" name="Text 50"/>
          <p:cNvSpPr txBox="1"/>
          <p:nvPr/>
        </p:nvSpPr>
        <p:spPr>
          <a:xfrm>
            <a:off x="10438539" y="5905500"/>
            <a:ext cx="57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538</a:t>
            </a:r>
            <a:endParaRPr lang="en-US" sz="1496" dirty="0"/>
          </a:p>
        </p:txBody>
      </p:sp>
      <p:sp>
        <p:nvSpPr>
          <p:cNvPr id="54" name="Text 51"/>
          <p:cNvSpPr txBox="1"/>
          <p:nvPr/>
        </p:nvSpPr>
        <p:spPr>
          <a:xfrm>
            <a:off x="11268408" y="5905500"/>
            <a:ext cx="513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7</a:t>
            </a:r>
            <a:endParaRPr lang="en-US" sz="1496" dirty="0"/>
          </a:p>
        </p:txBody>
      </p:sp>
      <p:sp>
        <p:nvSpPr>
          <p:cNvPr id="55" name="Shape 52"/>
          <p:cNvSpPr/>
          <p:nvPr/>
        </p:nvSpPr>
        <p:spPr>
          <a:xfrm>
            <a:off x="0" y="6413500"/>
            <a:ext cx="12161520" cy="444500"/>
          </a:xfrm>
          <a:prstGeom prst="rect">
            <a:avLst/>
          </a:prstGeom>
          <a:solidFill>
            <a:srgbClr val="16213E"/>
          </a:solidFill>
          <a:ln w="12668">
            <a:solidFill>
              <a:srgbClr val="F5A623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304038" y="6527800"/>
            <a:ext cx="333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C6C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Relatório Mensal — Componente IJ-044</a:t>
            </a:r>
            <a:endParaRPr lang="en-US" sz="1496" dirty="0"/>
          </a:p>
        </p:txBody>
      </p:sp>
      <p:sp>
        <p:nvSpPr>
          <p:cNvPr id="57" name="Text 54"/>
          <p:cNvSpPr txBox="1"/>
          <p:nvPr/>
        </p:nvSpPr>
        <p:spPr>
          <a:xfrm>
            <a:off x="9919240" y="6527800"/>
            <a:ext cx="19382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C6C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Mai/2024 → Mar/2026</a:t>
            </a:r>
            <a:endParaRPr lang="en-US" sz="149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7700"/>
          </a:xfrm>
          <a:prstGeom prst="rect">
            <a:avLst/>
          </a:prstGeom>
          <a:solidFill>
            <a:srgbClr val="16213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04038" y="127000"/>
            <a:ext cx="56563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EAEAE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Controle de Qualidade — Taxa de Refugo</a:t>
            </a:r>
            <a:endParaRPr lang="en-US" sz="2993" dirty="0"/>
          </a:p>
        </p:txBody>
      </p:sp>
      <p:sp>
        <p:nvSpPr>
          <p:cNvPr id="4" name="Text 2"/>
          <p:cNvSpPr txBox="1"/>
          <p:nvPr/>
        </p:nvSpPr>
        <p:spPr>
          <a:xfrm>
            <a:off x="11325416" y="190500"/>
            <a:ext cx="5320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IJ-044</a:t>
            </a:r>
            <a:endParaRPr lang="en-US" sz="1795" dirty="0"/>
          </a:p>
        </p:txBody>
      </p:sp>
      <p:sp>
        <p:nvSpPr>
          <p:cNvPr id="5" name="Shape 3"/>
          <p:cNvSpPr/>
          <p:nvPr/>
        </p:nvSpPr>
        <p:spPr>
          <a:xfrm>
            <a:off x="253365" y="800100"/>
            <a:ext cx="6901623" cy="5613400"/>
          </a:xfrm>
          <a:prstGeom prst="roundRect">
            <a:avLst>
              <a:gd name="adj" fmla="val 120"/>
            </a:avLst>
          </a:prstGeom>
          <a:solidFill>
            <a:srgbClr val="1621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05384" y="952500"/>
            <a:ext cx="659758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Refugo por Composto</a:t>
            </a:r>
            <a:endParaRPr lang="en-US" sz="1795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5384" y="1282700"/>
            <a:ext cx="6593824" cy="4978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07007" y="800100"/>
            <a:ext cx="4601148" cy="2590800"/>
          </a:xfrm>
          <a:prstGeom prst="roundRect">
            <a:avLst>
              <a:gd name="adj" fmla="val 389"/>
            </a:avLst>
          </a:prstGeom>
          <a:solidFill>
            <a:srgbClr val="16213E"/>
          </a:solidFill>
          <a:ln w="25337">
            <a:solidFill>
              <a:srgbClr val="4CAF8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442894" y="1003300"/>
            <a:ext cx="329375" cy="330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056512" y="1409700"/>
            <a:ext cx="1102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91" b="1" dirty="0">
                <a:solidFill>
                  <a:srgbClr val="4CAF8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1,39%</a:t>
            </a:r>
            <a:endParaRPr lang="en-US" sz="3591" dirty="0"/>
          </a:p>
        </p:txBody>
      </p:sp>
      <p:sp>
        <p:nvSpPr>
          <p:cNvPr id="11" name="Text 7"/>
          <p:cNvSpPr txBox="1"/>
          <p:nvPr/>
        </p:nvSpPr>
        <p:spPr>
          <a:xfrm>
            <a:off x="8708135" y="1943100"/>
            <a:ext cx="17988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dirty="0">
                <a:solidFill>
                  <a:srgbClr val="EAEAE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Taxa de Refugo Global</a:t>
            </a:r>
            <a:endParaRPr lang="en-US" sz="1795" dirty="0"/>
          </a:p>
        </p:txBody>
      </p:sp>
      <p:sp>
        <p:nvSpPr>
          <p:cNvPr id="12" name="Text 8"/>
          <p:cNvSpPr txBox="1"/>
          <p:nvPr/>
        </p:nvSpPr>
        <p:spPr>
          <a:xfrm>
            <a:off x="8150732" y="2298700"/>
            <a:ext cx="13428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5" b="1" dirty="0">
                <a:solidFill>
                  <a:srgbClr val="E9456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5.618</a:t>
            </a:r>
            <a:endParaRPr lang="en-US" sz="1795" dirty="0"/>
          </a:p>
        </p:txBody>
      </p:sp>
      <p:sp>
        <p:nvSpPr>
          <p:cNvPr id="13" name="Text 9"/>
          <p:cNvSpPr txBox="1"/>
          <p:nvPr/>
        </p:nvSpPr>
        <p:spPr>
          <a:xfrm>
            <a:off x="8150732" y="2552700"/>
            <a:ext cx="13428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Peças refugadas</a:t>
            </a:r>
            <a:endParaRPr lang="en-US" sz="1496" dirty="0"/>
          </a:p>
        </p:txBody>
      </p:sp>
      <p:sp>
        <p:nvSpPr>
          <p:cNvPr id="14" name="Text 10"/>
          <p:cNvSpPr txBox="1"/>
          <p:nvPr/>
        </p:nvSpPr>
        <p:spPr>
          <a:xfrm>
            <a:off x="9746932" y="2298700"/>
            <a:ext cx="131749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5" b="1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402.811</a:t>
            </a:r>
            <a:endParaRPr lang="en-US" sz="1795" dirty="0"/>
          </a:p>
        </p:txBody>
      </p:sp>
      <p:sp>
        <p:nvSpPr>
          <p:cNvPr id="15" name="Text 11"/>
          <p:cNvSpPr txBox="1"/>
          <p:nvPr/>
        </p:nvSpPr>
        <p:spPr>
          <a:xfrm>
            <a:off x="9746932" y="2552700"/>
            <a:ext cx="13174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Total produzido</a:t>
            </a:r>
            <a:endParaRPr lang="en-US" sz="1496" dirty="0"/>
          </a:p>
        </p:txBody>
      </p:sp>
      <p:sp>
        <p:nvSpPr>
          <p:cNvPr id="16" name="Shape 12"/>
          <p:cNvSpPr/>
          <p:nvPr/>
        </p:nvSpPr>
        <p:spPr>
          <a:xfrm>
            <a:off x="8372427" y="2882900"/>
            <a:ext cx="2470309" cy="330200"/>
          </a:xfrm>
          <a:prstGeom prst="roundRect">
            <a:avLst>
              <a:gd name="adj" fmla="val 7099882"/>
            </a:avLst>
          </a:prstGeom>
          <a:solidFill>
            <a:srgbClr val="1A2E2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524446" y="2933700"/>
            <a:ext cx="21662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4CAF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Dentro do limite aceitável</a:t>
            </a:r>
            <a:endParaRPr lang="en-US" sz="1496" dirty="0"/>
          </a:p>
        </p:txBody>
      </p:sp>
      <p:sp>
        <p:nvSpPr>
          <p:cNvPr id="18" name="Shape 14"/>
          <p:cNvSpPr/>
          <p:nvPr/>
        </p:nvSpPr>
        <p:spPr>
          <a:xfrm>
            <a:off x="7307007" y="3517900"/>
            <a:ext cx="4601148" cy="2895600"/>
          </a:xfrm>
          <a:prstGeom prst="roundRect">
            <a:avLst>
              <a:gd name="adj" fmla="val 348"/>
            </a:avLst>
          </a:prstGeom>
          <a:solidFill>
            <a:srgbClr val="16213E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7509699" y="3670300"/>
            <a:ext cx="419576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Análise de Qualidade</a:t>
            </a:r>
            <a:endParaRPr lang="en-US" sz="1795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509699" y="4076700"/>
            <a:ext cx="190024" cy="1905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775732" y="4051300"/>
            <a:ext cx="39297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F424/40 MARROM: maior volume de refugo absoluto </a:t>
            </a:r>
            <a:pPr algn="l" indent="0" marL="0">
              <a:buNone/>
            </a:pPr>
            <a:r>
              <a:rPr lang="en-US" sz="1496" b="1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(1.367 peças)</a:t>
            </a:r>
            <a:endParaRPr lang="en-US" sz="1496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509699" y="4660900"/>
            <a:ext cx="190024" cy="1905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775732" y="4635500"/>
            <a:ext cx="39297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MASSA S315/10: </a:t>
            </a:r>
            <a:pPr algn="l" indent="0" marL="0">
              <a:buNone/>
            </a:pPr>
            <a:r>
              <a:rPr lang="en-US" sz="1496" b="1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zero refugo</a:t>
            </a:r>
            <a:pPr algn="l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registrado nos 2 meses de uso</a:t>
            </a:r>
            <a:endParaRPr lang="en-US" sz="1496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509699" y="5245100"/>
            <a:ext cx="190024" cy="1905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775732" y="5219700"/>
            <a:ext cx="39297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Taxa mensal estável — sem pico de rejeição significativo</a:t>
            </a:r>
            <a:endParaRPr lang="en-US" sz="1496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509699" y="5829300"/>
            <a:ext cx="190024" cy="1905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775732" y="5803900"/>
            <a:ext cx="39297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Agosto/2024: menor produção e maior % de refugo relativo</a:t>
            </a:r>
            <a:endParaRPr lang="en-US" sz="1496" dirty="0"/>
          </a:p>
        </p:txBody>
      </p:sp>
      <p:sp>
        <p:nvSpPr>
          <p:cNvPr id="28" name="Shape 20"/>
          <p:cNvSpPr/>
          <p:nvPr/>
        </p:nvSpPr>
        <p:spPr>
          <a:xfrm>
            <a:off x="0" y="6413500"/>
            <a:ext cx="12161520" cy="444500"/>
          </a:xfrm>
          <a:prstGeom prst="rect">
            <a:avLst/>
          </a:prstGeom>
          <a:solidFill>
            <a:srgbClr val="16213E"/>
          </a:solidFill>
          <a:ln w="12668">
            <a:solidFill>
              <a:srgbClr val="F5A623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304038" y="6527800"/>
            <a:ext cx="333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C6C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Relatório Mensal — Componente IJ-044</a:t>
            </a:r>
            <a:endParaRPr lang="en-US" sz="1496" dirty="0"/>
          </a:p>
        </p:txBody>
      </p:sp>
      <p:sp>
        <p:nvSpPr>
          <p:cNvPr id="30" name="Text 22"/>
          <p:cNvSpPr txBox="1"/>
          <p:nvPr/>
        </p:nvSpPr>
        <p:spPr>
          <a:xfrm>
            <a:off x="9919240" y="6527800"/>
            <a:ext cx="19382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C6C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Mai/2024 → Mar/2026</a:t>
            </a:r>
            <a:endParaRPr lang="en-US" sz="149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7700"/>
          </a:xfrm>
          <a:prstGeom prst="rect">
            <a:avLst/>
          </a:prstGeom>
          <a:solidFill>
            <a:srgbClr val="16213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04038" y="127000"/>
            <a:ext cx="50546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EAEAE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Estratégia de Manutenção Preventiva</a:t>
            </a:r>
            <a:endParaRPr lang="en-US" sz="2993" dirty="0"/>
          </a:p>
        </p:txBody>
      </p:sp>
      <p:sp>
        <p:nvSpPr>
          <p:cNvPr id="4" name="Text 2"/>
          <p:cNvSpPr txBox="1"/>
          <p:nvPr/>
        </p:nvSpPr>
        <p:spPr>
          <a:xfrm>
            <a:off x="11325416" y="190500"/>
            <a:ext cx="5320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IJ-044</a:t>
            </a:r>
            <a:endParaRPr lang="en-US" sz="1795" dirty="0"/>
          </a:p>
        </p:txBody>
      </p:sp>
      <p:sp>
        <p:nvSpPr>
          <p:cNvPr id="5" name="Shape 3"/>
          <p:cNvSpPr/>
          <p:nvPr/>
        </p:nvSpPr>
        <p:spPr>
          <a:xfrm>
            <a:off x="253365" y="800100"/>
            <a:ext cx="7668448" cy="2006600"/>
          </a:xfrm>
          <a:prstGeom prst="roundRect">
            <a:avLst>
              <a:gd name="adj" fmla="val 301"/>
            </a:avLst>
          </a:prstGeom>
          <a:solidFill>
            <a:srgbClr val="1621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6057" y="952500"/>
            <a:ext cx="726306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Histórico de Manutenções RM.195</a:t>
            </a:r>
            <a:endParaRPr lang="en-US" sz="1795" dirty="0"/>
          </a:p>
        </p:txBody>
      </p:sp>
      <p:sp>
        <p:nvSpPr>
          <p:cNvPr id="7" name="Shape 5"/>
          <p:cNvSpPr/>
          <p:nvPr/>
        </p:nvSpPr>
        <p:spPr>
          <a:xfrm>
            <a:off x="858274" y="1574800"/>
            <a:ext cx="101346" cy="101600"/>
          </a:xfrm>
          <a:prstGeom prst="roundRect">
            <a:avLst>
              <a:gd name="adj" fmla="val 563853383"/>
            </a:avLst>
          </a:prstGeom>
          <a:solidFill>
            <a:srgbClr val="A0A0B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5558" y="1727200"/>
            <a:ext cx="8867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20/05/2023</a:t>
            </a:r>
            <a:endParaRPr lang="en-US" sz="1496" dirty="0"/>
          </a:p>
        </p:txBody>
      </p:sp>
      <p:sp>
        <p:nvSpPr>
          <p:cNvPr id="9" name="Text 7"/>
          <p:cNvSpPr txBox="1"/>
          <p:nvPr/>
        </p:nvSpPr>
        <p:spPr>
          <a:xfrm>
            <a:off x="456057" y="1955800"/>
            <a:ext cx="905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C6C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Preventiva #1</a:t>
            </a:r>
            <a:endParaRPr lang="en-US" sz="1496" dirty="0"/>
          </a:p>
        </p:txBody>
      </p:sp>
      <p:sp>
        <p:nvSpPr>
          <p:cNvPr id="10" name="Shape 8"/>
          <p:cNvSpPr/>
          <p:nvPr/>
        </p:nvSpPr>
        <p:spPr>
          <a:xfrm>
            <a:off x="1361837" y="1987550"/>
            <a:ext cx="689826" cy="127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1" name="Shape 9"/>
          <p:cNvSpPr/>
          <p:nvPr/>
        </p:nvSpPr>
        <p:spPr>
          <a:xfrm>
            <a:off x="2453880" y="1574800"/>
            <a:ext cx="101346" cy="101600"/>
          </a:xfrm>
          <a:prstGeom prst="roundRect">
            <a:avLst>
              <a:gd name="adj" fmla="val 563853383"/>
            </a:avLst>
          </a:prstGeom>
          <a:solidFill>
            <a:srgbClr val="A0A0B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067498" y="1727200"/>
            <a:ext cx="8741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22/05/2024</a:t>
            </a:r>
            <a:endParaRPr lang="en-US" sz="1496" dirty="0"/>
          </a:p>
        </p:txBody>
      </p:sp>
      <p:sp>
        <p:nvSpPr>
          <p:cNvPr id="13" name="Text 11"/>
          <p:cNvSpPr txBox="1"/>
          <p:nvPr/>
        </p:nvSpPr>
        <p:spPr>
          <a:xfrm>
            <a:off x="2051663" y="1955800"/>
            <a:ext cx="905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C6C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Preventiva #2</a:t>
            </a:r>
            <a:endParaRPr lang="en-US" sz="1496" dirty="0"/>
          </a:p>
        </p:txBody>
      </p:sp>
      <p:sp>
        <p:nvSpPr>
          <p:cNvPr id="14" name="Shape 12"/>
          <p:cNvSpPr/>
          <p:nvPr/>
        </p:nvSpPr>
        <p:spPr>
          <a:xfrm>
            <a:off x="2957443" y="1987550"/>
            <a:ext cx="689925" cy="127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5" name="Shape 13"/>
          <p:cNvSpPr/>
          <p:nvPr/>
        </p:nvSpPr>
        <p:spPr>
          <a:xfrm>
            <a:off x="4036916" y="1574800"/>
            <a:ext cx="101346" cy="101600"/>
          </a:xfrm>
          <a:prstGeom prst="roundRect">
            <a:avLst>
              <a:gd name="adj" fmla="val 563853383"/>
            </a:avLst>
          </a:prstGeom>
          <a:solidFill>
            <a:srgbClr val="A0A0B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47367" y="1727200"/>
            <a:ext cx="8804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26/05/2024</a:t>
            </a:r>
            <a:endParaRPr lang="en-US" sz="1496" dirty="0"/>
          </a:p>
        </p:txBody>
      </p:sp>
      <p:sp>
        <p:nvSpPr>
          <p:cNvPr id="17" name="Text 15"/>
          <p:cNvSpPr txBox="1"/>
          <p:nvPr/>
        </p:nvSpPr>
        <p:spPr>
          <a:xfrm>
            <a:off x="3647367" y="1955800"/>
            <a:ext cx="8804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C6C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Penúltima troca</a:t>
            </a:r>
            <a:endParaRPr lang="en-US" sz="1496" dirty="0"/>
          </a:p>
        </p:txBody>
      </p:sp>
      <p:sp>
        <p:nvSpPr>
          <p:cNvPr id="18" name="Shape 16"/>
          <p:cNvSpPr/>
          <p:nvPr/>
        </p:nvSpPr>
        <p:spPr>
          <a:xfrm>
            <a:off x="4527811" y="1987550"/>
            <a:ext cx="689826" cy="127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9" name="Shape 17"/>
          <p:cNvSpPr/>
          <p:nvPr/>
        </p:nvSpPr>
        <p:spPr>
          <a:xfrm>
            <a:off x="5607185" y="1333500"/>
            <a:ext cx="126683" cy="127000"/>
          </a:xfrm>
          <a:prstGeom prst="roundRect">
            <a:avLst>
              <a:gd name="adj" fmla="val 360864741"/>
            </a:avLst>
          </a:prstGeom>
          <a:solidFill>
            <a:srgbClr val="F5A62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246140" y="1511300"/>
            <a:ext cx="8487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26/12/2025</a:t>
            </a:r>
            <a:endParaRPr lang="en-US" sz="1496" dirty="0"/>
          </a:p>
        </p:txBody>
      </p:sp>
      <p:sp>
        <p:nvSpPr>
          <p:cNvPr id="21" name="Text 19"/>
          <p:cNvSpPr txBox="1"/>
          <p:nvPr/>
        </p:nvSpPr>
        <p:spPr>
          <a:xfrm>
            <a:off x="5217636" y="1739900"/>
            <a:ext cx="905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5A623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Preventiva #3</a:t>
            </a:r>
            <a:endParaRPr lang="en-US" sz="1496" dirty="0"/>
          </a:p>
        </p:txBody>
      </p:sp>
      <p:sp>
        <p:nvSpPr>
          <p:cNvPr id="22" name="Text 20"/>
          <p:cNvSpPr txBox="1"/>
          <p:nvPr/>
        </p:nvSpPr>
        <p:spPr>
          <a:xfrm>
            <a:off x="5217636" y="2197100"/>
            <a:ext cx="905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+ Última troca</a:t>
            </a:r>
            <a:endParaRPr lang="en-US" sz="1496" dirty="0"/>
          </a:p>
        </p:txBody>
      </p:sp>
      <p:sp>
        <p:nvSpPr>
          <p:cNvPr id="23" name="Shape 21"/>
          <p:cNvSpPr/>
          <p:nvPr/>
        </p:nvSpPr>
        <p:spPr>
          <a:xfrm>
            <a:off x="6123416" y="1987550"/>
            <a:ext cx="689925" cy="12700"/>
          </a:xfrm>
          <a:prstGeom prst="rect">
            <a:avLst/>
          </a:prstGeom>
          <a:noFill/>
          <a:ln w="12668">
            <a:solidFill>
              <a:srgbClr val="E94560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90222" y="1435100"/>
            <a:ext cx="152019" cy="15240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6857680" y="1638300"/>
            <a:ext cx="817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E9456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28/11/2027</a:t>
            </a:r>
            <a:endParaRPr lang="en-US" sz="1496" dirty="0"/>
          </a:p>
        </p:txBody>
      </p:sp>
      <p:sp>
        <p:nvSpPr>
          <p:cNvPr id="26" name="Text 23"/>
          <p:cNvSpPr txBox="1"/>
          <p:nvPr/>
        </p:nvSpPr>
        <p:spPr>
          <a:xfrm>
            <a:off x="6813341" y="1866900"/>
            <a:ext cx="905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E9456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Próxima Preventiva</a:t>
            </a:r>
            <a:endParaRPr lang="en-US" sz="1496" dirty="0"/>
          </a:p>
        </p:txBody>
      </p:sp>
      <p:sp>
        <p:nvSpPr>
          <p:cNvPr id="27" name="Text 24"/>
          <p:cNvSpPr txBox="1"/>
          <p:nvPr/>
        </p:nvSpPr>
        <p:spPr>
          <a:xfrm>
            <a:off x="6835511" y="2324100"/>
            <a:ext cx="8614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C6C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(prescrita)</a:t>
            </a:r>
            <a:endParaRPr lang="en-US" sz="1496" dirty="0"/>
          </a:p>
        </p:txBody>
      </p:sp>
      <p:sp>
        <p:nvSpPr>
          <p:cNvPr id="28" name="Shape 25"/>
          <p:cNvSpPr/>
          <p:nvPr/>
        </p:nvSpPr>
        <p:spPr>
          <a:xfrm>
            <a:off x="253365" y="2933700"/>
            <a:ext cx="7668448" cy="3327400"/>
          </a:xfrm>
          <a:prstGeom prst="roundRect">
            <a:avLst>
              <a:gd name="adj" fmla="val 182"/>
            </a:avLst>
          </a:prstGeom>
          <a:solidFill>
            <a:srgbClr val="16213E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380048" y="3009900"/>
            <a:ext cx="1301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Componente</a:t>
            </a:r>
            <a:endParaRPr lang="en-US" sz="1496" dirty="0"/>
          </a:p>
        </p:txBody>
      </p:sp>
      <p:sp>
        <p:nvSpPr>
          <p:cNvPr id="30" name="Text 27"/>
          <p:cNvSpPr txBox="1"/>
          <p:nvPr/>
        </p:nvSpPr>
        <p:spPr>
          <a:xfrm>
            <a:off x="1935273" y="3009900"/>
            <a:ext cx="8002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Valor Atual</a:t>
            </a:r>
            <a:endParaRPr lang="en-US" sz="1496" dirty="0"/>
          </a:p>
        </p:txBody>
      </p:sp>
      <p:sp>
        <p:nvSpPr>
          <p:cNvPr id="31" name="Text 28"/>
          <p:cNvSpPr txBox="1"/>
          <p:nvPr/>
        </p:nvSpPr>
        <p:spPr>
          <a:xfrm>
            <a:off x="2988915" y="3009900"/>
            <a:ext cx="16666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Referência</a:t>
            </a:r>
            <a:endParaRPr lang="en-US" sz="1496" dirty="0"/>
          </a:p>
        </p:txBody>
      </p:sp>
      <p:sp>
        <p:nvSpPr>
          <p:cNvPr id="32" name="Text 29"/>
          <p:cNvSpPr txBox="1"/>
          <p:nvPr/>
        </p:nvSpPr>
        <p:spPr>
          <a:xfrm>
            <a:off x="4908947" y="3009900"/>
            <a:ext cx="576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Fator</a:t>
            </a:r>
            <a:endParaRPr lang="en-US" sz="1496" dirty="0"/>
          </a:p>
        </p:txBody>
      </p:sp>
      <p:sp>
        <p:nvSpPr>
          <p:cNvPr id="33" name="Text 30"/>
          <p:cNvSpPr txBox="1"/>
          <p:nvPr/>
        </p:nvSpPr>
        <p:spPr>
          <a:xfrm>
            <a:off x="5738717" y="3009900"/>
            <a:ext cx="2056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Efeito</a:t>
            </a:r>
            <a:endParaRPr lang="en-US" sz="1496" dirty="0"/>
          </a:p>
        </p:txBody>
      </p:sp>
      <p:sp>
        <p:nvSpPr>
          <p:cNvPr id="34" name="Text 31"/>
          <p:cNvSpPr txBox="1"/>
          <p:nvPr/>
        </p:nvSpPr>
        <p:spPr>
          <a:xfrm>
            <a:off x="380048" y="3390900"/>
            <a:ext cx="1301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T_base</a:t>
            </a:r>
            <a:endParaRPr lang="en-US" sz="1496" dirty="0"/>
          </a:p>
        </p:txBody>
      </p:sp>
      <p:sp>
        <p:nvSpPr>
          <p:cNvPr id="35" name="Text 32"/>
          <p:cNvSpPr txBox="1"/>
          <p:nvPr/>
        </p:nvSpPr>
        <p:spPr>
          <a:xfrm>
            <a:off x="1935273" y="3390900"/>
            <a:ext cx="8002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555 dias</a:t>
            </a:r>
            <a:endParaRPr lang="en-US" sz="1496" dirty="0"/>
          </a:p>
        </p:txBody>
      </p:sp>
      <p:sp>
        <p:nvSpPr>
          <p:cNvPr id="36" name="Text 33"/>
          <p:cNvSpPr txBox="1"/>
          <p:nvPr/>
        </p:nvSpPr>
        <p:spPr>
          <a:xfrm>
            <a:off x="2988915" y="3390900"/>
            <a:ext cx="16666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Mediana histórica</a:t>
            </a:r>
            <a:endParaRPr lang="en-US" sz="1496" dirty="0"/>
          </a:p>
        </p:txBody>
      </p:sp>
      <p:sp>
        <p:nvSpPr>
          <p:cNvPr id="37" name="Text 34"/>
          <p:cNvSpPr txBox="1"/>
          <p:nvPr/>
        </p:nvSpPr>
        <p:spPr>
          <a:xfrm>
            <a:off x="4908947" y="3390900"/>
            <a:ext cx="576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—</a:t>
            </a:r>
            <a:endParaRPr lang="en-US" sz="1496" dirty="0"/>
          </a:p>
        </p:txBody>
      </p:sp>
      <p:sp>
        <p:nvSpPr>
          <p:cNvPr id="38" name="Text 35"/>
          <p:cNvSpPr txBox="1"/>
          <p:nvPr/>
        </p:nvSpPr>
        <p:spPr>
          <a:xfrm>
            <a:off x="5738717" y="3390900"/>
            <a:ext cx="2056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Ponto de partida</a:t>
            </a:r>
            <a:endParaRPr lang="en-US" sz="1496" dirty="0"/>
          </a:p>
        </p:txBody>
      </p:sp>
      <p:sp>
        <p:nvSpPr>
          <p:cNvPr id="39" name="Text 36"/>
          <p:cNvSpPr txBox="1"/>
          <p:nvPr/>
        </p:nvSpPr>
        <p:spPr>
          <a:xfrm>
            <a:off x="380048" y="3771900"/>
            <a:ext cx="1301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Ampl. cil./fuso</a:t>
            </a:r>
            <a:endParaRPr lang="en-US" sz="1496" dirty="0"/>
          </a:p>
        </p:txBody>
      </p:sp>
      <p:sp>
        <p:nvSpPr>
          <p:cNvPr id="40" name="Text 37"/>
          <p:cNvSpPr txBox="1"/>
          <p:nvPr/>
        </p:nvSpPr>
        <p:spPr>
          <a:xfrm>
            <a:off x="1935273" y="3771900"/>
            <a:ext cx="8002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—</a:t>
            </a:r>
            <a:endParaRPr lang="en-US" sz="1496" dirty="0"/>
          </a:p>
        </p:txBody>
      </p:sp>
      <p:sp>
        <p:nvSpPr>
          <p:cNvPr id="41" name="Text 38"/>
          <p:cNvSpPr txBox="1"/>
          <p:nvPr/>
        </p:nvSpPr>
        <p:spPr>
          <a:xfrm>
            <a:off x="2988915" y="3771900"/>
            <a:ext cx="16666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—</a:t>
            </a:r>
            <a:endParaRPr lang="en-US" sz="1496" dirty="0"/>
          </a:p>
        </p:txBody>
      </p:sp>
      <p:sp>
        <p:nvSpPr>
          <p:cNvPr id="42" name="Text 39"/>
          <p:cNvSpPr txBox="1"/>
          <p:nvPr/>
        </p:nvSpPr>
        <p:spPr>
          <a:xfrm>
            <a:off x="4908947" y="3771900"/>
            <a:ext cx="576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1,0000</a:t>
            </a:r>
            <a:endParaRPr lang="en-US" sz="1496" dirty="0"/>
          </a:p>
        </p:txBody>
      </p:sp>
      <p:sp>
        <p:nvSpPr>
          <p:cNvPr id="43" name="Text 40"/>
          <p:cNvSpPr txBox="1"/>
          <p:nvPr/>
        </p:nvSpPr>
        <p:spPr>
          <a:xfrm>
            <a:off x="5738717" y="3771900"/>
            <a:ext cx="2056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Fator neutro</a:t>
            </a:r>
            <a:endParaRPr lang="en-US" sz="1496" dirty="0"/>
          </a:p>
        </p:txBody>
      </p:sp>
      <p:sp>
        <p:nvSpPr>
          <p:cNvPr id="44" name="Text 41"/>
          <p:cNvSpPr txBox="1"/>
          <p:nvPr/>
        </p:nvSpPr>
        <p:spPr>
          <a:xfrm>
            <a:off x="380048" y="4152900"/>
            <a:ext cx="13018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Massa pós-troca</a:t>
            </a:r>
            <a:endParaRPr lang="en-US" sz="1496" dirty="0"/>
          </a:p>
        </p:txBody>
      </p:sp>
      <p:sp>
        <p:nvSpPr>
          <p:cNvPr id="45" name="Text 42"/>
          <p:cNvSpPr txBox="1"/>
          <p:nvPr/>
        </p:nvSpPr>
        <p:spPr>
          <a:xfrm>
            <a:off x="1935273" y="4152900"/>
            <a:ext cx="8002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458,85 kg</a:t>
            </a:r>
            <a:endParaRPr lang="en-US" sz="1496" dirty="0"/>
          </a:p>
        </p:txBody>
      </p:sp>
      <p:sp>
        <p:nvSpPr>
          <p:cNvPr id="46" name="Text 43"/>
          <p:cNvSpPr txBox="1"/>
          <p:nvPr/>
        </p:nvSpPr>
        <p:spPr>
          <a:xfrm>
            <a:off x="2988915" y="4152900"/>
            <a:ext cx="16666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5.337,28 kg (mediana)</a:t>
            </a:r>
            <a:endParaRPr lang="en-US" sz="1496" dirty="0"/>
          </a:p>
        </p:txBody>
      </p:sp>
      <p:sp>
        <p:nvSpPr>
          <p:cNvPr id="47" name="Text 44"/>
          <p:cNvSpPr txBox="1"/>
          <p:nvPr/>
        </p:nvSpPr>
        <p:spPr>
          <a:xfrm>
            <a:off x="4908947" y="4267200"/>
            <a:ext cx="576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1,3000</a:t>
            </a:r>
            <a:endParaRPr lang="en-US" sz="1496" dirty="0"/>
          </a:p>
        </p:txBody>
      </p:sp>
      <p:sp>
        <p:nvSpPr>
          <p:cNvPr id="48" name="Text 45"/>
          <p:cNvSpPr txBox="1"/>
          <p:nvPr/>
        </p:nvSpPr>
        <p:spPr>
          <a:xfrm>
            <a:off x="5738717" y="4152900"/>
            <a:ext cx="20564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4CAF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Adia troca (baixo consumo)</a:t>
            </a:r>
            <a:endParaRPr lang="en-US" sz="1496" dirty="0"/>
          </a:p>
        </p:txBody>
      </p:sp>
      <p:sp>
        <p:nvSpPr>
          <p:cNvPr id="49" name="Text 46"/>
          <p:cNvSpPr txBox="1"/>
          <p:nvPr/>
        </p:nvSpPr>
        <p:spPr>
          <a:xfrm>
            <a:off x="380048" y="4762500"/>
            <a:ext cx="1301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Ociosidade</a:t>
            </a:r>
            <a:endParaRPr lang="en-US" sz="1496" dirty="0"/>
          </a:p>
        </p:txBody>
      </p:sp>
      <p:sp>
        <p:nvSpPr>
          <p:cNvPr id="50" name="Text 47"/>
          <p:cNvSpPr txBox="1"/>
          <p:nvPr/>
        </p:nvSpPr>
        <p:spPr>
          <a:xfrm>
            <a:off x="1935273" y="4762500"/>
            <a:ext cx="8002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28 dias</a:t>
            </a:r>
            <a:endParaRPr lang="en-US" sz="1496" dirty="0"/>
          </a:p>
        </p:txBody>
      </p:sp>
      <p:sp>
        <p:nvSpPr>
          <p:cNvPr id="51" name="Text 48"/>
          <p:cNvSpPr txBox="1"/>
          <p:nvPr/>
        </p:nvSpPr>
        <p:spPr>
          <a:xfrm>
            <a:off x="2988915" y="4762500"/>
            <a:ext cx="16666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Últ. prod. → hoje</a:t>
            </a:r>
            <a:endParaRPr lang="en-US" sz="1496" dirty="0"/>
          </a:p>
        </p:txBody>
      </p:sp>
      <p:sp>
        <p:nvSpPr>
          <p:cNvPr id="52" name="Text 49"/>
          <p:cNvSpPr txBox="1"/>
          <p:nvPr/>
        </p:nvSpPr>
        <p:spPr>
          <a:xfrm>
            <a:off x="4908947" y="4762500"/>
            <a:ext cx="576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—</a:t>
            </a:r>
            <a:endParaRPr lang="en-US" sz="1496" dirty="0"/>
          </a:p>
        </p:txBody>
      </p:sp>
      <p:sp>
        <p:nvSpPr>
          <p:cNvPr id="53" name="Text 50"/>
          <p:cNvSpPr txBox="1"/>
          <p:nvPr/>
        </p:nvSpPr>
        <p:spPr>
          <a:xfrm>
            <a:off x="5738717" y="4762500"/>
            <a:ext cx="2056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Desliza data p/ frente</a:t>
            </a:r>
            <a:endParaRPr lang="en-US" sz="1496" dirty="0"/>
          </a:p>
        </p:txBody>
      </p:sp>
      <p:sp>
        <p:nvSpPr>
          <p:cNvPr id="54" name="Text 51"/>
          <p:cNvSpPr txBox="1"/>
          <p:nvPr/>
        </p:nvSpPr>
        <p:spPr>
          <a:xfrm>
            <a:off x="380048" y="5257800"/>
            <a:ext cx="1301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E9456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T_prescrito</a:t>
            </a:r>
            <a:endParaRPr lang="en-US" sz="1496" dirty="0"/>
          </a:p>
        </p:txBody>
      </p:sp>
      <p:sp>
        <p:nvSpPr>
          <p:cNvPr id="55" name="Text 52"/>
          <p:cNvSpPr txBox="1"/>
          <p:nvPr/>
        </p:nvSpPr>
        <p:spPr>
          <a:xfrm>
            <a:off x="1935273" y="5143500"/>
            <a:ext cx="8002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E9456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721,5 dias</a:t>
            </a:r>
            <a:endParaRPr lang="en-US" sz="1496" dirty="0"/>
          </a:p>
        </p:txBody>
      </p:sp>
      <p:sp>
        <p:nvSpPr>
          <p:cNvPr id="56" name="Text 53"/>
          <p:cNvSpPr txBox="1"/>
          <p:nvPr/>
        </p:nvSpPr>
        <p:spPr>
          <a:xfrm>
            <a:off x="2988915" y="5257800"/>
            <a:ext cx="16666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555 × 1,00 × 1,30</a:t>
            </a:r>
            <a:endParaRPr lang="en-US" sz="1496" dirty="0"/>
          </a:p>
        </p:txBody>
      </p:sp>
      <p:sp>
        <p:nvSpPr>
          <p:cNvPr id="57" name="Text 54"/>
          <p:cNvSpPr txBox="1"/>
          <p:nvPr/>
        </p:nvSpPr>
        <p:spPr>
          <a:xfrm>
            <a:off x="4908947" y="5257800"/>
            <a:ext cx="576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—</a:t>
            </a:r>
            <a:endParaRPr lang="en-US" sz="1496" dirty="0"/>
          </a:p>
        </p:txBody>
      </p:sp>
      <p:sp>
        <p:nvSpPr>
          <p:cNvPr id="58" name="Text 55"/>
          <p:cNvSpPr txBox="1"/>
          <p:nvPr/>
        </p:nvSpPr>
        <p:spPr>
          <a:xfrm>
            <a:off x="5738717" y="5257800"/>
            <a:ext cx="2056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E9456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Data: 28/11/2027</a:t>
            </a:r>
            <a:endParaRPr lang="en-US" sz="1496" dirty="0"/>
          </a:p>
        </p:txBody>
      </p:sp>
      <p:sp>
        <p:nvSpPr>
          <p:cNvPr id="59" name="Shape 56"/>
          <p:cNvSpPr/>
          <p:nvPr/>
        </p:nvSpPr>
        <p:spPr>
          <a:xfrm>
            <a:off x="8073832" y="800100"/>
            <a:ext cx="3834224" cy="2851150"/>
          </a:xfrm>
          <a:prstGeom prst="roundRect">
            <a:avLst>
              <a:gd name="adj" fmla="val 424"/>
            </a:avLst>
          </a:prstGeom>
          <a:solidFill>
            <a:srgbClr val="16213E"/>
          </a:solidFill>
          <a:ln w="31671">
            <a:solidFill>
              <a:srgbClr val="4CAF82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9553840" y="1035050"/>
            <a:ext cx="874109" cy="355600"/>
          </a:xfrm>
          <a:prstGeom prst="roundRect">
            <a:avLst>
              <a:gd name="adj" fmla="val 18631677"/>
            </a:avLst>
          </a:prstGeom>
          <a:solidFill>
            <a:srgbClr val="1A2E22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9705859" y="1085850"/>
            <a:ext cx="57007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dirty="0">
                <a:solidFill>
                  <a:srgbClr val="4CAF8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✅ OK</a:t>
            </a:r>
            <a:endParaRPr lang="en-US" sz="1795" dirty="0"/>
          </a:p>
        </p:txBody>
      </p:sp>
      <p:sp>
        <p:nvSpPr>
          <p:cNvPr id="62" name="Text 59"/>
          <p:cNvSpPr txBox="1"/>
          <p:nvPr/>
        </p:nvSpPr>
        <p:spPr>
          <a:xfrm>
            <a:off x="9534838" y="1492250"/>
            <a:ext cx="91211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788" b="1" dirty="0">
                <a:solidFill>
                  <a:srgbClr val="4CAF8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580</a:t>
            </a:r>
            <a:endParaRPr lang="en-US" sz="4788" dirty="0"/>
          </a:p>
        </p:txBody>
      </p:sp>
      <p:sp>
        <p:nvSpPr>
          <p:cNvPr id="63" name="Text 60"/>
          <p:cNvSpPr txBox="1"/>
          <p:nvPr/>
        </p:nvSpPr>
        <p:spPr>
          <a:xfrm>
            <a:off x="9411322" y="2203450"/>
            <a:ext cx="11591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dias restantes</a:t>
            </a:r>
            <a:endParaRPr lang="en-US" sz="1496" dirty="0"/>
          </a:p>
        </p:txBody>
      </p:sp>
      <p:sp>
        <p:nvSpPr>
          <p:cNvPr id="64" name="Text 61"/>
          <p:cNvSpPr txBox="1"/>
          <p:nvPr/>
        </p:nvSpPr>
        <p:spPr>
          <a:xfrm>
            <a:off x="9496833" y="2533650"/>
            <a:ext cx="98812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28/11/2027</a:t>
            </a:r>
            <a:endParaRPr lang="en-US" sz="1795" dirty="0"/>
          </a:p>
        </p:txBody>
      </p:sp>
      <p:sp>
        <p:nvSpPr>
          <p:cNvPr id="65" name="Text 62"/>
          <p:cNvSpPr txBox="1"/>
          <p:nvPr/>
        </p:nvSpPr>
        <p:spPr>
          <a:xfrm>
            <a:off x="9278305" y="2889250"/>
            <a:ext cx="14251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EAEAE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Próxima manutenção</a:t>
            </a:r>
            <a:endParaRPr lang="en-US" sz="1496" dirty="0"/>
          </a:p>
        </p:txBody>
      </p:sp>
      <p:sp>
        <p:nvSpPr>
          <p:cNvPr id="66" name="Text 63"/>
          <p:cNvSpPr txBox="1"/>
          <p:nvPr/>
        </p:nvSpPr>
        <p:spPr>
          <a:xfrm>
            <a:off x="8926762" y="3219450"/>
            <a:ext cx="21282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C6C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Última troca: 26/12/2025</a:t>
            </a:r>
            <a:endParaRPr lang="en-US" sz="1496" dirty="0"/>
          </a:p>
        </p:txBody>
      </p:sp>
      <p:sp>
        <p:nvSpPr>
          <p:cNvPr id="67" name="Shape 64"/>
          <p:cNvSpPr/>
          <p:nvPr/>
        </p:nvSpPr>
        <p:spPr>
          <a:xfrm>
            <a:off x="8073832" y="3778250"/>
            <a:ext cx="3834224" cy="2482850"/>
          </a:xfrm>
          <a:prstGeom prst="roundRect">
            <a:avLst>
              <a:gd name="adj" fmla="val 487"/>
            </a:avLst>
          </a:prstGeom>
          <a:solidFill>
            <a:srgbClr val="16213E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8276524" y="3930650"/>
            <a:ext cx="34288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Níveis de Urgência</a:t>
            </a:r>
            <a:endParaRPr lang="en-US" sz="1795" dirty="0"/>
          </a:p>
        </p:txBody>
      </p:sp>
      <p:sp>
        <p:nvSpPr>
          <p:cNvPr id="69" name="Shape 66"/>
          <p:cNvSpPr/>
          <p:nvPr/>
        </p:nvSpPr>
        <p:spPr>
          <a:xfrm>
            <a:off x="8276524" y="4286250"/>
            <a:ext cx="1000792" cy="330200"/>
          </a:xfrm>
          <a:prstGeom prst="roundRect">
            <a:avLst>
              <a:gd name="adj" fmla="val 17525024"/>
            </a:avLst>
          </a:prstGeom>
          <a:solidFill>
            <a:srgbClr val="3A0A10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8403207" y="4337050"/>
            <a:ext cx="7474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E9456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ATRASADO</a:t>
            </a:r>
            <a:endParaRPr lang="en-US" sz="1496" dirty="0"/>
          </a:p>
        </p:txBody>
      </p:sp>
      <p:sp>
        <p:nvSpPr>
          <p:cNvPr id="71" name="Text 68"/>
          <p:cNvSpPr txBox="1"/>
          <p:nvPr/>
        </p:nvSpPr>
        <p:spPr>
          <a:xfrm>
            <a:off x="9378662" y="4337050"/>
            <a:ext cx="6270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&lt; 0 dias</a:t>
            </a:r>
            <a:endParaRPr lang="en-US" sz="1496" dirty="0"/>
          </a:p>
        </p:txBody>
      </p:sp>
      <p:sp>
        <p:nvSpPr>
          <p:cNvPr id="72" name="Shape 69"/>
          <p:cNvSpPr/>
          <p:nvPr/>
        </p:nvSpPr>
        <p:spPr>
          <a:xfrm>
            <a:off x="8276524" y="4718050"/>
            <a:ext cx="886778" cy="330200"/>
          </a:xfrm>
          <a:prstGeom prst="roundRect">
            <a:avLst>
              <a:gd name="adj" fmla="val 19778242"/>
            </a:avLst>
          </a:prstGeom>
          <a:solidFill>
            <a:srgbClr val="3A2000"/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8403207" y="4768850"/>
            <a:ext cx="633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URGENTE</a:t>
            </a:r>
            <a:endParaRPr lang="en-US" sz="1496" dirty="0"/>
          </a:p>
        </p:txBody>
      </p:sp>
      <p:sp>
        <p:nvSpPr>
          <p:cNvPr id="74" name="Text 71"/>
          <p:cNvSpPr txBox="1"/>
          <p:nvPr/>
        </p:nvSpPr>
        <p:spPr>
          <a:xfrm>
            <a:off x="9264648" y="4768850"/>
            <a:ext cx="8804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 – 29 dias</a:t>
            </a:r>
            <a:endParaRPr lang="en-US" sz="1496" dirty="0"/>
          </a:p>
        </p:txBody>
      </p:sp>
      <p:sp>
        <p:nvSpPr>
          <p:cNvPr id="75" name="Shape 72"/>
          <p:cNvSpPr/>
          <p:nvPr/>
        </p:nvSpPr>
        <p:spPr>
          <a:xfrm>
            <a:off x="8276524" y="5149850"/>
            <a:ext cx="886778" cy="330200"/>
          </a:xfrm>
          <a:prstGeom prst="roundRect">
            <a:avLst>
              <a:gd name="adj" fmla="val 19778242"/>
            </a:avLst>
          </a:prstGeom>
          <a:solidFill>
            <a:srgbClr val="3A3000"/>
          </a:solidFill>
          <a:ln/>
        </p:spPr>
      </p:sp>
      <p:sp>
        <p:nvSpPr>
          <p:cNvPr id="76" name="Text 73"/>
          <p:cNvSpPr txBox="1"/>
          <p:nvPr/>
        </p:nvSpPr>
        <p:spPr>
          <a:xfrm>
            <a:off x="8403207" y="5200650"/>
            <a:ext cx="633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FD7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ATENÇÃO</a:t>
            </a:r>
            <a:endParaRPr lang="en-US" sz="1496" dirty="0"/>
          </a:p>
        </p:txBody>
      </p:sp>
      <p:sp>
        <p:nvSpPr>
          <p:cNvPr id="77" name="Text 74"/>
          <p:cNvSpPr txBox="1"/>
          <p:nvPr/>
        </p:nvSpPr>
        <p:spPr>
          <a:xfrm>
            <a:off x="9264648" y="5200650"/>
            <a:ext cx="9881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30 – 89 dias</a:t>
            </a:r>
            <a:endParaRPr lang="en-US" sz="1496" dirty="0"/>
          </a:p>
        </p:txBody>
      </p:sp>
      <p:sp>
        <p:nvSpPr>
          <p:cNvPr id="78" name="Shape 75"/>
          <p:cNvSpPr/>
          <p:nvPr/>
        </p:nvSpPr>
        <p:spPr>
          <a:xfrm>
            <a:off x="8276524" y="5581650"/>
            <a:ext cx="1406176" cy="330200"/>
          </a:xfrm>
          <a:prstGeom prst="roundRect">
            <a:avLst>
              <a:gd name="adj" fmla="val 12472765"/>
            </a:avLst>
          </a:prstGeom>
          <a:solidFill>
            <a:srgbClr val="1A2E22"/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8403207" y="5632450"/>
            <a:ext cx="11528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4CAF8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✓ OK — ATUAL</a:t>
            </a:r>
            <a:endParaRPr lang="en-US" sz="1496" dirty="0"/>
          </a:p>
        </p:txBody>
      </p:sp>
      <p:sp>
        <p:nvSpPr>
          <p:cNvPr id="80" name="Text 77"/>
          <p:cNvSpPr txBox="1"/>
          <p:nvPr/>
        </p:nvSpPr>
        <p:spPr>
          <a:xfrm>
            <a:off x="9784046" y="5632450"/>
            <a:ext cx="7313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≥ 90 dias</a:t>
            </a:r>
            <a:endParaRPr lang="en-US" sz="1496" dirty="0"/>
          </a:p>
        </p:txBody>
      </p:sp>
      <p:sp>
        <p:nvSpPr>
          <p:cNvPr id="81" name="Shape 78"/>
          <p:cNvSpPr/>
          <p:nvPr/>
        </p:nvSpPr>
        <p:spPr>
          <a:xfrm>
            <a:off x="0" y="6413500"/>
            <a:ext cx="12161520" cy="444500"/>
          </a:xfrm>
          <a:prstGeom prst="rect">
            <a:avLst/>
          </a:prstGeom>
          <a:solidFill>
            <a:srgbClr val="16213E"/>
          </a:solidFill>
          <a:ln w="12668">
            <a:solidFill>
              <a:srgbClr val="F5A623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304038" y="6527800"/>
            <a:ext cx="333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C6C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Relatório Mensal — Componente IJ-044</a:t>
            </a:r>
            <a:endParaRPr lang="en-US" sz="1496" dirty="0"/>
          </a:p>
        </p:txBody>
      </p:sp>
      <p:sp>
        <p:nvSpPr>
          <p:cNvPr id="83" name="Text 80"/>
          <p:cNvSpPr txBox="1"/>
          <p:nvPr/>
        </p:nvSpPr>
        <p:spPr>
          <a:xfrm>
            <a:off x="9862233" y="6527800"/>
            <a:ext cx="19952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C6C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Referência: 27/04/2026</a:t>
            </a:r>
            <a:endParaRPr lang="en-US" sz="1496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7700"/>
          </a:xfrm>
          <a:prstGeom prst="rect">
            <a:avLst/>
          </a:prstGeom>
          <a:solidFill>
            <a:srgbClr val="16213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04038" y="127000"/>
            <a:ext cx="480760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EAEAE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Conclusões e Insights Operacionais</a:t>
            </a:r>
            <a:endParaRPr lang="en-US" sz="2993" dirty="0"/>
          </a:p>
        </p:txBody>
      </p:sp>
      <p:sp>
        <p:nvSpPr>
          <p:cNvPr id="4" name="Text 2"/>
          <p:cNvSpPr txBox="1"/>
          <p:nvPr/>
        </p:nvSpPr>
        <p:spPr>
          <a:xfrm>
            <a:off x="11325416" y="190500"/>
            <a:ext cx="5320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IJ-044</a:t>
            </a:r>
            <a:endParaRPr lang="en-US" sz="1795" dirty="0"/>
          </a:p>
        </p:txBody>
      </p:sp>
      <p:sp>
        <p:nvSpPr>
          <p:cNvPr id="5" name="Text 3"/>
          <p:cNvSpPr txBox="1"/>
          <p:nvPr/>
        </p:nvSpPr>
        <p:spPr>
          <a:xfrm>
            <a:off x="253365" y="800100"/>
            <a:ext cx="575138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Principais Conclusões</a:t>
            </a:r>
            <a:endParaRPr lang="en-US" sz="1795" dirty="0"/>
          </a:p>
        </p:txBody>
      </p:sp>
      <p:sp>
        <p:nvSpPr>
          <p:cNvPr id="6" name="Shape 4"/>
          <p:cNvSpPr/>
          <p:nvPr/>
        </p:nvSpPr>
        <p:spPr>
          <a:xfrm>
            <a:off x="253365" y="1181100"/>
            <a:ext cx="5751386" cy="1174750"/>
          </a:xfrm>
          <a:prstGeom prst="roundRect">
            <a:avLst>
              <a:gd name="adj" fmla="val 686"/>
            </a:avLst>
          </a:prstGeom>
          <a:solidFill>
            <a:srgbClr val="16213E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6057" y="1333500"/>
            <a:ext cx="253365" cy="2540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36105" y="1308100"/>
            <a:ext cx="499129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EAEAE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Produção Consistente</a:t>
            </a:r>
            <a:endParaRPr lang="en-US" sz="1795" dirty="0"/>
          </a:p>
        </p:txBody>
      </p:sp>
      <p:sp>
        <p:nvSpPr>
          <p:cNvPr id="9" name="Text 6"/>
          <p:cNvSpPr txBox="1"/>
          <p:nvPr/>
        </p:nvSpPr>
        <p:spPr>
          <a:xfrm>
            <a:off x="836105" y="1612900"/>
            <a:ext cx="49912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402.811 peças em 23 meses com pico histórico de 115.579 em Set/2025</a:t>
            </a:r>
            <a:endParaRPr lang="en-US" sz="1496" dirty="0"/>
          </a:p>
        </p:txBody>
      </p:sp>
      <p:sp>
        <p:nvSpPr>
          <p:cNvPr id="10" name="Shape 7"/>
          <p:cNvSpPr/>
          <p:nvPr/>
        </p:nvSpPr>
        <p:spPr>
          <a:xfrm>
            <a:off x="253365" y="2482850"/>
            <a:ext cx="5751386" cy="1174750"/>
          </a:xfrm>
          <a:prstGeom prst="roundRect">
            <a:avLst>
              <a:gd name="adj" fmla="val 686"/>
            </a:avLst>
          </a:prstGeom>
          <a:solidFill>
            <a:srgbClr val="16213E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6057" y="2635250"/>
            <a:ext cx="253365" cy="2540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36105" y="2609850"/>
            <a:ext cx="468091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EAEAE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Dominância do F424/40 MARROM</a:t>
            </a:r>
            <a:endParaRPr lang="en-US" sz="1795" dirty="0"/>
          </a:p>
        </p:txBody>
      </p:sp>
      <p:sp>
        <p:nvSpPr>
          <p:cNvPr id="13" name="Text 9"/>
          <p:cNvSpPr txBox="1"/>
          <p:nvPr/>
        </p:nvSpPr>
        <p:spPr>
          <a:xfrm>
            <a:off x="836105" y="2914650"/>
            <a:ext cx="46809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44,36% da produção — composto principal por 11 meses</a:t>
            </a:r>
            <a:endParaRPr lang="en-US" sz="1496" dirty="0"/>
          </a:p>
        </p:txBody>
      </p:sp>
      <p:sp>
        <p:nvSpPr>
          <p:cNvPr id="14" name="Shape 10"/>
          <p:cNvSpPr/>
          <p:nvPr/>
        </p:nvSpPr>
        <p:spPr>
          <a:xfrm>
            <a:off x="253365" y="3784600"/>
            <a:ext cx="5751386" cy="1174750"/>
          </a:xfrm>
          <a:prstGeom prst="roundRect">
            <a:avLst>
              <a:gd name="adj" fmla="val 686"/>
            </a:avLst>
          </a:prstGeom>
          <a:solidFill>
            <a:srgbClr val="16213E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6057" y="3937000"/>
            <a:ext cx="253365" cy="2540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6105" y="3911600"/>
            <a:ext cx="499129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EAEAE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Qualidade Controlada</a:t>
            </a:r>
            <a:endParaRPr lang="en-US" sz="1795" dirty="0"/>
          </a:p>
        </p:txBody>
      </p:sp>
      <p:sp>
        <p:nvSpPr>
          <p:cNvPr id="17" name="Text 12"/>
          <p:cNvSpPr txBox="1"/>
          <p:nvPr/>
        </p:nvSpPr>
        <p:spPr>
          <a:xfrm>
            <a:off x="836105" y="4216400"/>
            <a:ext cx="49912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Taxa de refugo de apenas 1,39% — desempenho estável em todo o período</a:t>
            </a:r>
            <a:endParaRPr lang="en-US" sz="1496" dirty="0"/>
          </a:p>
        </p:txBody>
      </p:sp>
      <p:sp>
        <p:nvSpPr>
          <p:cNvPr id="18" name="Shape 13"/>
          <p:cNvSpPr/>
          <p:nvPr/>
        </p:nvSpPr>
        <p:spPr>
          <a:xfrm>
            <a:off x="253365" y="5086350"/>
            <a:ext cx="5751386" cy="1174750"/>
          </a:xfrm>
          <a:prstGeom prst="roundRect">
            <a:avLst>
              <a:gd name="adj" fmla="val 686"/>
            </a:avLst>
          </a:prstGeom>
          <a:solidFill>
            <a:srgbClr val="16213E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6057" y="5238750"/>
            <a:ext cx="253365" cy="2540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36105" y="5213350"/>
            <a:ext cx="499129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EAEAE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Manutenção Planejada</a:t>
            </a:r>
            <a:endParaRPr lang="en-US" sz="1795" dirty="0"/>
          </a:p>
        </p:txBody>
      </p:sp>
      <p:sp>
        <p:nvSpPr>
          <p:cNvPr id="21" name="Text 15"/>
          <p:cNvSpPr txBox="1"/>
          <p:nvPr/>
        </p:nvSpPr>
        <p:spPr>
          <a:xfrm>
            <a:off x="836105" y="5518150"/>
            <a:ext cx="49912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Próxima intervenção prevista para Nov/2027 — 580 dias de folga operacional</a:t>
            </a:r>
            <a:endParaRPr lang="en-US" sz="1496" dirty="0"/>
          </a:p>
        </p:txBody>
      </p:sp>
      <p:sp>
        <p:nvSpPr>
          <p:cNvPr id="22" name="Shape 16"/>
          <p:cNvSpPr/>
          <p:nvPr/>
        </p:nvSpPr>
        <p:spPr>
          <a:xfrm>
            <a:off x="6156770" y="800100"/>
            <a:ext cx="5751386" cy="5461000"/>
          </a:xfrm>
          <a:prstGeom prst="roundRect">
            <a:avLst>
              <a:gd name="adj" fmla="val 148"/>
            </a:avLst>
          </a:prstGeom>
          <a:solidFill>
            <a:srgbClr val="16213E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6359462" y="952500"/>
            <a:ext cx="534600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dirty="0">
                <a:solidFill>
                  <a:srgbClr val="F5A6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Scorecard Operacional</a:t>
            </a:r>
            <a:endParaRPr lang="en-US" sz="2394" dirty="0"/>
          </a:p>
        </p:txBody>
      </p:sp>
      <p:sp>
        <p:nvSpPr>
          <p:cNvPr id="24" name="Shape 18"/>
          <p:cNvSpPr/>
          <p:nvPr/>
        </p:nvSpPr>
        <p:spPr>
          <a:xfrm>
            <a:off x="6359462" y="1384300"/>
            <a:ext cx="5346002" cy="463550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359462" y="1498600"/>
            <a:ext cx="228029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714173" y="1498600"/>
            <a:ext cx="34711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Volume Total</a:t>
            </a:r>
            <a:endParaRPr lang="en-US" sz="1496" dirty="0"/>
          </a:p>
        </p:txBody>
      </p:sp>
      <p:sp>
        <p:nvSpPr>
          <p:cNvPr id="27" name="Text 20"/>
          <p:cNvSpPr txBox="1"/>
          <p:nvPr/>
        </p:nvSpPr>
        <p:spPr>
          <a:xfrm>
            <a:off x="10311956" y="1485900"/>
            <a:ext cx="119081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EAEAE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402.811 peças</a:t>
            </a:r>
            <a:endParaRPr lang="en-US" sz="1795" dirty="0"/>
          </a:p>
        </p:txBody>
      </p:sp>
      <p:sp>
        <p:nvSpPr>
          <p:cNvPr id="28" name="Shape 21"/>
          <p:cNvSpPr/>
          <p:nvPr/>
        </p:nvSpPr>
        <p:spPr>
          <a:xfrm>
            <a:off x="11629454" y="1574800"/>
            <a:ext cx="76010" cy="76200"/>
          </a:xfrm>
          <a:prstGeom prst="roundRect">
            <a:avLst>
              <a:gd name="adj" fmla="val 1002399421"/>
            </a:avLst>
          </a:prstGeom>
          <a:solidFill>
            <a:srgbClr val="4CAF82"/>
          </a:solidFill>
          <a:ln/>
        </p:spPr>
      </p:sp>
      <p:sp>
        <p:nvSpPr>
          <p:cNvPr id="29" name="Shape 22"/>
          <p:cNvSpPr/>
          <p:nvPr/>
        </p:nvSpPr>
        <p:spPr>
          <a:xfrm>
            <a:off x="6359462" y="1847850"/>
            <a:ext cx="5346002" cy="463550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359462" y="1962150"/>
            <a:ext cx="228029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714173" y="1962150"/>
            <a:ext cx="38891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Período</a:t>
            </a:r>
            <a:endParaRPr lang="en-US" sz="1496" dirty="0"/>
          </a:p>
        </p:txBody>
      </p:sp>
      <p:sp>
        <p:nvSpPr>
          <p:cNvPr id="32" name="Text 24"/>
          <p:cNvSpPr txBox="1"/>
          <p:nvPr/>
        </p:nvSpPr>
        <p:spPr>
          <a:xfrm>
            <a:off x="10730008" y="1949450"/>
            <a:ext cx="7727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EAEAE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23 meses</a:t>
            </a:r>
            <a:endParaRPr lang="en-US" sz="1795" dirty="0"/>
          </a:p>
        </p:txBody>
      </p:sp>
      <p:sp>
        <p:nvSpPr>
          <p:cNvPr id="33" name="Shape 25"/>
          <p:cNvSpPr/>
          <p:nvPr/>
        </p:nvSpPr>
        <p:spPr>
          <a:xfrm>
            <a:off x="11629454" y="2038350"/>
            <a:ext cx="76010" cy="76200"/>
          </a:xfrm>
          <a:prstGeom prst="roundRect">
            <a:avLst>
              <a:gd name="adj" fmla="val 1002399421"/>
            </a:avLst>
          </a:prstGeom>
          <a:solidFill>
            <a:srgbClr val="0F3460"/>
          </a:solidFill>
          <a:ln/>
        </p:spPr>
      </p:sp>
      <p:sp>
        <p:nvSpPr>
          <p:cNvPr id="34" name="Shape 26"/>
          <p:cNvSpPr/>
          <p:nvPr/>
        </p:nvSpPr>
        <p:spPr>
          <a:xfrm>
            <a:off x="6359462" y="2311400"/>
            <a:ext cx="5346002" cy="463550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359462" y="2425700"/>
            <a:ext cx="228029" cy="22860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714173" y="2425700"/>
            <a:ext cx="40158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Compostos</a:t>
            </a:r>
            <a:endParaRPr lang="en-US" sz="1496" dirty="0"/>
          </a:p>
        </p:txBody>
      </p:sp>
      <p:sp>
        <p:nvSpPr>
          <p:cNvPr id="37" name="Text 28"/>
          <p:cNvSpPr txBox="1"/>
          <p:nvPr/>
        </p:nvSpPr>
        <p:spPr>
          <a:xfrm>
            <a:off x="10856690" y="2413000"/>
            <a:ext cx="64608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EAEAE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14 tipos</a:t>
            </a:r>
            <a:endParaRPr lang="en-US" sz="1795" dirty="0"/>
          </a:p>
        </p:txBody>
      </p:sp>
      <p:sp>
        <p:nvSpPr>
          <p:cNvPr id="38" name="Shape 29"/>
          <p:cNvSpPr/>
          <p:nvPr/>
        </p:nvSpPr>
        <p:spPr>
          <a:xfrm>
            <a:off x="11629454" y="2501900"/>
            <a:ext cx="76010" cy="76200"/>
          </a:xfrm>
          <a:prstGeom prst="roundRect">
            <a:avLst>
              <a:gd name="adj" fmla="val 1002399421"/>
            </a:avLst>
          </a:prstGeom>
          <a:solidFill>
            <a:srgbClr val="0F3460"/>
          </a:solidFill>
          <a:ln/>
        </p:spPr>
      </p:sp>
      <p:sp>
        <p:nvSpPr>
          <p:cNvPr id="39" name="Shape 30"/>
          <p:cNvSpPr/>
          <p:nvPr/>
        </p:nvSpPr>
        <p:spPr>
          <a:xfrm>
            <a:off x="6359462" y="2774950"/>
            <a:ext cx="5346002" cy="463550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359462" y="2889250"/>
            <a:ext cx="228029" cy="22860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714173" y="2889250"/>
            <a:ext cx="41045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Taxa de Refugo</a:t>
            </a:r>
            <a:endParaRPr lang="en-US" sz="1496" dirty="0"/>
          </a:p>
        </p:txBody>
      </p:sp>
      <p:sp>
        <p:nvSpPr>
          <p:cNvPr id="42" name="Text 32"/>
          <p:cNvSpPr txBox="1"/>
          <p:nvPr/>
        </p:nvSpPr>
        <p:spPr>
          <a:xfrm>
            <a:off x="10945368" y="2876550"/>
            <a:ext cx="55740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EAEAE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1,39%</a:t>
            </a:r>
            <a:endParaRPr lang="en-US" sz="1795" dirty="0"/>
          </a:p>
        </p:txBody>
      </p:sp>
      <p:sp>
        <p:nvSpPr>
          <p:cNvPr id="43" name="Shape 33"/>
          <p:cNvSpPr/>
          <p:nvPr/>
        </p:nvSpPr>
        <p:spPr>
          <a:xfrm>
            <a:off x="11629454" y="2965450"/>
            <a:ext cx="76010" cy="76200"/>
          </a:xfrm>
          <a:prstGeom prst="roundRect">
            <a:avLst>
              <a:gd name="adj" fmla="val 1002399421"/>
            </a:avLst>
          </a:prstGeom>
          <a:solidFill>
            <a:srgbClr val="4CAF82"/>
          </a:solidFill>
          <a:ln/>
        </p:spPr>
      </p:sp>
      <p:sp>
        <p:nvSpPr>
          <p:cNvPr id="44" name="Shape 34"/>
          <p:cNvSpPr/>
          <p:nvPr/>
        </p:nvSpPr>
        <p:spPr>
          <a:xfrm>
            <a:off x="6359462" y="3238500"/>
            <a:ext cx="5346002" cy="463550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359462" y="3352800"/>
            <a:ext cx="228029" cy="228600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6714173" y="3352800"/>
            <a:ext cx="2368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Pico Mensal</a:t>
            </a:r>
            <a:endParaRPr lang="en-US" sz="1496" dirty="0"/>
          </a:p>
        </p:txBody>
      </p:sp>
      <p:sp>
        <p:nvSpPr>
          <p:cNvPr id="47" name="Text 36"/>
          <p:cNvSpPr txBox="1"/>
          <p:nvPr/>
        </p:nvSpPr>
        <p:spPr>
          <a:xfrm>
            <a:off x="9209818" y="3340100"/>
            <a:ext cx="229295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EAEAE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115.579 peças — Set/2025</a:t>
            </a:r>
            <a:endParaRPr lang="en-US" sz="1795" dirty="0"/>
          </a:p>
        </p:txBody>
      </p:sp>
      <p:sp>
        <p:nvSpPr>
          <p:cNvPr id="48" name="Shape 37"/>
          <p:cNvSpPr/>
          <p:nvPr/>
        </p:nvSpPr>
        <p:spPr>
          <a:xfrm>
            <a:off x="11629454" y="3429000"/>
            <a:ext cx="76010" cy="76200"/>
          </a:xfrm>
          <a:prstGeom prst="roundRect">
            <a:avLst>
              <a:gd name="adj" fmla="val 1002399421"/>
            </a:avLst>
          </a:prstGeom>
          <a:solidFill>
            <a:srgbClr val="F5A623"/>
          </a:solidFill>
          <a:ln/>
        </p:spPr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359462" y="3816350"/>
            <a:ext cx="228029" cy="228600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6714173" y="3816350"/>
            <a:ext cx="27743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A0A0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Próxima Manutenção</a:t>
            </a:r>
            <a:endParaRPr lang="en-US" sz="1496" dirty="0"/>
          </a:p>
        </p:txBody>
      </p:sp>
      <p:sp>
        <p:nvSpPr>
          <p:cNvPr id="51" name="Text 39"/>
          <p:cNvSpPr txBox="1"/>
          <p:nvPr/>
        </p:nvSpPr>
        <p:spPr>
          <a:xfrm>
            <a:off x="9615202" y="3803650"/>
            <a:ext cx="188756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EAEAE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28/11/2027 (580 dias)</a:t>
            </a:r>
            <a:endParaRPr lang="en-US" sz="1795" dirty="0"/>
          </a:p>
        </p:txBody>
      </p:sp>
      <p:sp>
        <p:nvSpPr>
          <p:cNvPr id="52" name="Shape 40"/>
          <p:cNvSpPr/>
          <p:nvPr/>
        </p:nvSpPr>
        <p:spPr>
          <a:xfrm>
            <a:off x="11629454" y="3892550"/>
            <a:ext cx="76010" cy="76200"/>
          </a:xfrm>
          <a:prstGeom prst="roundRect">
            <a:avLst>
              <a:gd name="adj" fmla="val 1002399421"/>
            </a:avLst>
          </a:prstGeom>
          <a:solidFill>
            <a:srgbClr val="4CAF82"/>
          </a:solidFill>
          <a:ln/>
        </p:spPr>
      </p:sp>
      <p:sp>
        <p:nvSpPr>
          <p:cNvPr id="53" name="Shape 41"/>
          <p:cNvSpPr/>
          <p:nvPr/>
        </p:nvSpPr>
        <p:spPr>
          <a:xfrm>
            <a:off x="0" y="6413500"/>
            <a:ext cx="12161520" cy="444500"/>
          </a:xfrm>
          <a:prstGeom prst="rect">
            <a:avLst/>
          </a:prstGeom>
          <a:solidFill>
            <a:srgbClr val="16213E"/>
          </a:solidFill>
          <a:ln w="12668">
            <a:solidFill>
              <a:srgbClr val="F5A623"/>
            </a:solidFill>
            <a:prstDash val="solid"/>
          </a:ln>
        </p:spPr>
      </p:sp>
      <p:sp>
        <p:nvSpPr>
          <p:cNvPr id="54" name="Text 42"/>
          <p:cNvSpPr txBox="1"/>
          <p:nvPr/>
        </p:nvSpPr>
        <p:spPr>
          <a:xfrm>
            <a:off x="304038" y="6527800"/>
            <a:ext cx="333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C6C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Relatório Mensal — Componente IJ-044</a:t>
            </a:r>
            <a:endParaRPr lang="en-US" sz="1496" dirty="0"/>
          </a:p>
        </p:txBody>
      </p:sp>
      <p:sp>
        <p:nvSpPr>
          <p:cNvPr id="55" name="Text 43"/>
          <p:cNvSpPr txBox="1"/>
          <p:nvPr/>
        </p:nvSpPr>
        <p:spPr>
          <a:xfrm>
            <a:off x="9919240" y="6527800"/>
            <a:ext cx="19382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C6C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Mai/2024 → Mar/2026</a:t>
            </a:r>
            <a:endParaRPr lang="en-US" sz="149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2026-04-28T13:39:55Z</dcterms:created>
  <dcterms:modified xsi:type="dcterms:W3CDTF">2026-04-28T13:39:55Z</dcterms:modified>
</cp:coreProperties>
</file>
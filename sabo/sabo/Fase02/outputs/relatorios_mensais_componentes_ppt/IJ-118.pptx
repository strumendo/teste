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822960" cy="457200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2296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IJ-118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029200" cy="2560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Relatório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Mensal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por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Componente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333D4A"/>
                </a:solidFill>
                <a:latin typeface="Calibri"/>
              </a:rPr>
              <a:t>Análise de desempenho · Mai/2024 → Mar/2026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8348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6B7785"/>
                </a:solidFill>
                <a:latin typeface="Calibri"/>
              </a:rPr>
              <a:t>Produção · Qualidade · Manutenção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0" y="141732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E53E5A"/>
                </a:solidFill>
                <a:latin typeface="Calibri"/>
              </a:rPr>
              <a:t>567.451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Peças produzidas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8892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75120" y="292608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F1A13C"/>
                </a:solidFill>
                <a:latin typeface="Calibri"/>
              </a:rP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2900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Compostos utilizados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70332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23 meses de operação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29768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75120" y="443484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2CA57E"/>
                </a:solidFill>
                <a:latin typeface="Calibri"/>
              </a:rPr>
              <a:t>2,47 %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21208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14.004 peças refugadas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Visão Executiva da Produção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567.451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Total Produzido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4612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F1A13C"/>
                </a:solidFill>
                <a:latin typeface="Calibri"/>
              </a:rP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Meses de Operação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2648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2C6EC9"/>
                </a:solidFill>
                <a:latin typeface="Calibri"/>
              </a:rPr>
              <a:t>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Compostos Distintos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utilizados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0684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2,47 %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14.004 peças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606040"/>
            <a:ext cx="685800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2743200"/>
            <a:ext cx="64008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Destaques do Período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24612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Pico de produção em Dez/2025: 42.583 peças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88620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MASSA S315/10 MACARRÃO EXTR  8+/- 1mm lidera com 28,38 % da produção 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52628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Taxa de refugo de 2,47 % no 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6636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16636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Última troca em 02/03/2025 — próxima prescrita em 24/12/2025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2606040"/>
            <a:ext cx="443484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406640" y="2743200"/>
            <a:ext cx="443484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Aprovado vs. Refugado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3154680"/>
            <a:ext cx="4206240" cy="301752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Tendências de Produção Mensal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E53E5A"/>
                </a:solidFill>
                <a:latin typeface="Calibri"/>
              </a:rPr>
              <a:t>42.583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Pico de Produção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Dez/2025 — recorde do período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262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F1A13C"/>
                </a:solidFill>
                <a:latin typeface="Calibri"/>
              </a:rPr>
              <a:t>24.672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Média Mensal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Calculada sobre 23 meses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2C6EC9"/>
                </a:solidFill>
                <a:latin typeface="Calibri"/>
              </a:rPr>
              <a:t>4.823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Menor Mês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Mai/2024 — menor volume registrado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331720"/>
            <a:ext cx="11475720" cy="40233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Análise de Materiais e Compostos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Volume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1874519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0" y="1097280"/>
            <a:ext cx="4389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Composto Dominante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3716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MASSA S315/10 MACARRÃO EXTR  8+/- 1mm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28,38 %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do total produzido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161.043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14 meses com uso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3.979 peças refugadas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017520"/>
            <a:ext cx="4663440" cy="3337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269480" y="3108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Composto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108960"/>
            <a:ext cx="914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Produzido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310896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% 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3108960"/>
            <a:ext cx="6400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Refugo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3108960"/>
            <a:ext cx="457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Meses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3456432"/>
            <a:ext cx="45720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269480" y="35204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1">
                <a:solidFill>
                  <a:srgbClr val="E53E5A"/>
                </a:solidFill>
                <a:latin typeface="Calibri"/>
              </a:rPr>
              <a:t>MASSA S315/10 MACARRÃO 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52044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161.043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52044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28,38 %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352044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3.979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352044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941064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F424/40 MARROM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941064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109.298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941064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19,26 %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44200" y="3941064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1.720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3941064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4361688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P250/14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4361688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86.698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4361688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15,28 %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44200" y="4361688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2.433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4361688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4782312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N148/18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4782312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38.988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4782312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6,87 %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44200" y="4782312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640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84280" y="4782312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5202936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S316/2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5202936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38.167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2680" y="5202936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6,73 %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44200" y="5202936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665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5202936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5623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F420/191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98280" y="562356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34.448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12680" y="562356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6,07 %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44200" y="562356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734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84280" y="562356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Controle de Qualidade — Taxa de Refugo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Refugo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2194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78040" y="1143000"/>
            <a:ext cx="46634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400" b="1">
                <a:solidFill>
                  <a:srgbClr val="F1A13C"/>
                </a:solidFill>
                <a:latin typeface="Calibri"/>
              </a:rPr>
              <a:t>2,47 %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78308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2D3D"/>
                </a:solidFill>
                <a:latin typeface="Calibri"/>
              </a:rPr>
              <a:t>Taxa de Refugo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E53E5A"/>
                </a:solidFill>
                <a:latin typeface="Calibri"/>
              </a:rPr>
              <a:t>14.004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 refugadas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F1A13C"/>
                </a:solidFill>
                <a:latin typeface="Calibri"/>
              </a:rPr>
              <a:t>567.451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Total produzido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834640"/>
            <a:ext cx="3474720" cy="292608"/>
          </a:xfrm>
          <a:prstGeom prst="roundRect">
            <a:avLst>
              <a:gd name="adj" fmla="val 8000"/>
            </a:avLst>
          </a:prstGeom>
          <a:solidFill>
            <a:srgbClr val="FD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0" y="2834640"/>
            <a:ext cx="34747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1A13C"/>
                </a:solidFill>
                <a:latin typeface="Calibri"/>
              </a:rPr>
              <a:t>Atenção ao patamar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337560"/>
            <a:ext cx="4663440" cy="30175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0" y="34290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Análise de Qualidade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84048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E53E5A"/>
                </a:solidFill>
                <a:latin typeface="Calibri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84048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S315/10 MACARRÃO EXTR  8+/- 1mm: maior volume de refugo absoluto (3.979 peças)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43484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43484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Taxa mensal estável — sem pico de rejeição significativo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02920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F1A13C"/>
                </a:solidFill>
                <a:latin typeface="Calibri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02920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Refugo geral próximo do limite — monitorar tendência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Estratégia de Manutenção Preventiva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7589520" cy="2103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Histórico de Manutenções RM.195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406640" cy="1691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005840"/>
            <a:ext cx="3749039" cy="27432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8778240" y="1143000"/>
            <a:ext cx="2377440" cy="384048"/>
          </a:xfrm>
          <a:prstGeom prst="roundRect">
            <a:avLst>
              <a:gd name="adj" fmla="val 8000"/>
            </a:avLst>
          </a:prstGeom>
          <a:solidFill>
            <a:srgbClr val="FC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78240" y="1143000"/>
            <a:ext cx="237744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E53E5A"/>
                </a:solidFill>
                <a:latin typeface="Calibri"/>
              </a:rPr>
              <a:t>ATRASADO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691640"/>
            <a:ext cx="3749039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600" b="1">
                <a:solidFill>
                  <a:srgbClr val="E53E5A"/>
                </a:solidFill>
                <a:latin typeface="Calibri"/>
              </a:rPr>
              <a:t>-124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33172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6B7785"/>
                </a:solidFill>
                <a:latin typeface="Calibri"/>
              </a:rPr>
              <a:t>dias restantes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69748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24/12/2025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06324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Próxima manutenção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33756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Última troca: 02/03/2025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246120"/>
            <a:ext cx="7589520" cy="3108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2920" y="338328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Componente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383280"/>
            <a:ext cx="128016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Valor Atual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83280"/>
            <a:ext cx="14630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Referência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38328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Fator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383280"/>
            <a:ext cx="20116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Efeito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03320"/>
            <a:ext cx="73152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02920" y="379476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T_base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379476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385,0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79476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histórica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79476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79476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Ponto de partida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29768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Ampl. cil./fuso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29768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cil. 0,480 / fuso 1,100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29768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429768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1,0000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429768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Fator neutro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80060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Massa pós-troca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80060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4.435,03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80060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janelas anteriores: 2.628,83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80060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0,7000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480060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consumiu **1,69×** a massa típica → antecipa a próxima troca (×0,700)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30352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Ociosidade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530352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530352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Últ. prod. → hoje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530352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530352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Desliza data p/ frente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760720"/>
            <a:ext cx="7498079" cy="502920"/>
          </a:xfrm>
          <a:prstGeom prst="roundRect">
            <a:avLst>
              <a:gd name="adj" fmla="val 8000"/>
            </a:avLst>
          </a:prstGeom>
          <a:solidFill>
            <a:srgbClr val="FC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02920" y="580644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T_prescrito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580644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269,5 dias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80644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385,0 × 1,0000 × 0,7000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0640" y="580644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580644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Data: 24/12/2025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92440" y="3886200"/>
            <a:ext cx="3749039" cy="24688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229600" y="3977639"/>
            <a:ext cx="34747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Níveis de Urgência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0" y="443484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B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229600" y="443484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53E5A"/>
                </a:solidFill>
                <a:latin typeface="Calibri"/>
              </a:rPr>
              <a:t>ATRASADO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43484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&lt; 0 dias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29600" y="484632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C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229600" y="484632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1A13C"/>
                </a:solidFill>
                <a:latin typeface="Calibri"/>
              </a:rPr>
              <a:t>URGENTE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84080" y="484632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0 – 29 dias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0" y="525780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A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8229600" y="525780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3C047"/>
                </a:solidFill>
                <a:latin typeface="Calibri"/>
              </a:rPr>
              <a:t>ATENÇÃO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84080" y="525780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30 – 89 dias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9600" y="566928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DF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229600" y="566928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2CA57E"/>
                </a:solidFill>
                <a:latin typeface="Calibri"/>
              </a:rPr>
              <a:t>✓ OK — ATUAL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0" y="566928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≥ 90 dias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IJ-118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Referência: 27/04/2026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Conclusões e Insights Operacionais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68580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Principais Conclusões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08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0000" cy="1051560"/>
          </a:xfrm>
          <a:prstGeom prst="rect">
            <a:avLst/>
          </a:prstGeom>
          <a:solidFill>
            <a:srgbClr val="2C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Produção Consistente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567.451 peças em 23 meses com pico histórico de 42.583 em Dez/2025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651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50000" cy="105156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Dominância do MASSA S315/10 MACARRÃO EXTR  8+/- 1mm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28,38 % da produção — composto principal por 14 meses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794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50000" cy="1051560"/>
          </a:xfrm>
          <a:prstGeom prst="rect">
            <a:avLst/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4360" y="3931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Qualidade Controlada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97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 de apenas 2,47 % — desempenho estável em todo o período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937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65760" y="4937760"/>
            <a:ext cx="50000" cy="1051560"/>
          </a:xfrm>
          <a:prstGeom prst="rect">
            <a:avLst/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" y="5074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Manutenção Planejada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440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intervenção prevista para 24/12/2025 — -124 dias de folga operacional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1005840"/>
            <a:ext cx="4434840" cy="5394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89520" y="1097280"/>
            <a:ext cx="4160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Scorecard Operacional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16916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Volume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16916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567.451 peças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658600" y="18105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589520" y="21031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8952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194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23 meses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658600" y="231343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589520" y="260604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89520" y="269748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Compostos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269748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14 tipos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658600" y="281635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589520" y="310896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589520" y="320040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320040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2,47 %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658600" y="331927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589520" y="361188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589520" y="370332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Pico Mensal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370332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42.583 peças — Dez/2025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658600" y="382219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589520" y="411480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589520" y="42062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Manutenção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42062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24/12/2025 (-124 dias)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658600" y="43251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7589520" y="46177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
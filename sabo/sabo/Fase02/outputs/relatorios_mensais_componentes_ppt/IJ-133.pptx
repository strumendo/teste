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ounded Rectangle 2"/>
          <p:cNvSpPr/>
          <p:nvPr/>
        </p:nvSpPr>
        <p:spPr>
          <a:xfrm>
            <a:off x="548640" y="1280160"/>
            <a:ext cx="822960" cy="457200"/>
          </a:xfrm>
          <a:prstGeom prst="roundRect">
            <a:avLst>
              <a:gd name="adj" fmla="val 8000"/>
            </a:avLst>
          </a:prstGeom>
          <a:solidFill>
            <a:srgbClr val="F1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822960" cy="45720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IJ-133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5029200" cy="2560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Relatório</a:t>
            </a:r>
          </a:p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Mensal</a:t>
            </a:r>
          </a:p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por</a:t>
            </a:r>
          </a:p>
          <a:p>
            <a:pPr algn="l"/>
            <a:r>
              <a:rPr sz="4400" b="1">
                <a:solidFill>
                  <a:srgbClr val="1F2D3D"/>
                </a:solidFill>
                <a:latin typeface="Calibri"/>
              </a:rPr>
              <a:t>Componente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572000"/>
            <a:ext cx="5029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333D4A"/>
                </a:solidFill>
                <a:latin typeface="Calibri"/>
              </a:rPr>
              <a:t>Análise de desempenho · Mai/2024 → Mar/2026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983480"/>
            <a:ext cx="5029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6B7785"/>
                </a:solidFill>
                <a:latin typeface="Calibri"/>
              </a:rPr>
              <a:t>Produção · Qualidade · Manutenção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280160"/>
            <a:ext cx="5212080" cy="12801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675120" y="141732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E53E5A"/>
                </a:solidFill>
                <a:latin typeface="Calibri"/>
              </a:rPr>
              <a:t>1.099.377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92024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Peças produzidas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2194560"/>
            <a:ext cx="46634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788920"/>
            <a:ext cx="5212080" cy="12801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675120" y="292608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F1A13C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42900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Compostos utilizados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703320"/>
            <a:ext cx="46634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23 meses de operação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297680"/>
            <a:ext cx="5212080" cy="12801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675120" y="443484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800" b="1">
                <a:solidFill>
                  <a:srgbClr val="2CA57E"/>
                </a:solidFill>
                <a:latin typeface="Calibri"/>
              </a:rPr>
              <a:t>0,27 %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493776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Taxa de refugo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5212080"/>
            <a:ext cx="46634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3.006 peças refugadas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Visão Executiva da Produção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IJ-133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36576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E53E5A"/>
                </a:solidFill>
                <a:latin typeface="Calibri"/>
              </a:rPr>
              <a:t>1.099.377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Total Produzido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peças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24612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F1A13C"/>
                </a:solidFill>
                <a:latin typeface="Calibri"/>
              </a:rPr>
              <a:t>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Meses de Operação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12648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2C6EC9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Compostos Distintos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utilizados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40" y="1005840"/>
            <a:ext cx="2788920" cy="14173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006840" y="1143000"/>
            <a:ext cx="2788920" cy="64008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2600" b="1">
                <a:solidFill>
                  <a:srgbClr val="E53E5A"/>
                </a:solidFill>
                <a:latin typeface="Calibri"/>
              </a:rPr>
              <a:t>0,27 %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40" y="173736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1F2D3D"/>
                </a:solidFill>
                <a:latin typeface="Calibri"/>
              </a:rPr>
              <a:t>Taxa de Refugo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2057400"/>
            <a:ext cx="27889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3.006 peças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2606040"/>
            <a:ext cx="6858000" cy="36576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548640" y="2743200"/>
            <a:ext cx="640080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Destaques do Período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24612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324612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Pico de produção em Out/2025: 78.520 peças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88620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388620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F424/50 lidera com 54,72 % da produção total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52628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Taxa de refugo de 0,27 % no período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166360"/>
            <a:ext cx="3657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5166360"/>
            <a:ext cx="612648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333D4A"/>
                </a:solidFill>
                <a:latin typeface="Calibri"/>
              </a:rPr>
              <a:t>Última troca em 05/07/2025 — próxima prescrita em 30/04/2027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06640" y="2606040"/>
            <a:ext cx="4434840" cy="36576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406640" y="2743200"/>
            <a:ext cx="443484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600" b="1">
                <a:solidFill>
                  <a:srgbClr val="1F2D3D"/>
                </a:solidFill>
                <a:latin typeface="Calibri"/>
              </a:rPr>
              <a:t>Aprovado vs. Refugado</a:t>
            </a:r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79" y="3154680"/>
            <a:ext cx="4206240" cy="3017520"/>
          </a:xfrm>
          <a:prstGeom prst="rect">
            <a:avLst/>
          </a:prstGeom>
        </p:spPr>
      </p:pic>
      <p:sp>
        <p:nvSpPr>
          <p:cNvPr id="35" name="Rectangle 34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IJ-133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Tendências de Produção Mensal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IJ-133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3794760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3246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E53E5A"/>
                </a:solidFill>
                <a:latin typeface="Calibri"/>
              </a:rPr>
              <a:t>78.520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Pico de Produção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47088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Out/2025 — recorde do período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51960" y="1005840"/>
            <a:ext cx="3794760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26280" y="1097280"/>
            <a:ext cx="3246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F1A13C"/>
                </a:solidFill>
                <a:latin typeface="Calibri"/>
              </a:rPr>
              <a:t>47.799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1554480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Média Mensal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847088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Calculada sobre 23 meses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005840"/>
            <a:ext cx="3794760" cy="11887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412480" y="1097280"/>
            <a:ext cx="324612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400" b="1">
                <a:solidFill>
                  <a:srgbClr val="2C6EC9"/>
                </a:solidFill>
                <a:latin typeface="Calibri"/>
              </a:rPr>
              <a:t>7.958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1554480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Menor Mês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1847088"/>
            <a:ext cx="3246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Mai/2024 — menor volume registrado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2331720"/>
            <a:ext cx="11475720" cy="402336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IJ-133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Análise de Materiais e Compostos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IJ-133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6675120" cy="53492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63093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Volume por Composto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08760"/>
            <a:ext cx="649224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178040" y="1005840"/>
            <a:ext cx="4663440" cy="1874519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315200" y="1097280"/>
            <a:ext cx="43891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Composto Dominante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1371600"/>
            <a:ext cx="43891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2D3D"/>
                </a:solidFill>
                <a:latin typeface="Calibri"/>
              </a:rPr>
              <a:t>F424/50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1783080"/>
            <a:ext cx="2194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E53E5A"/>
                </a:solidFill>
                <a:latin typeface="Calibri"/>
              </a:rPr>
              <a:t>54,72 %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2240280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do total produzido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1783080"/>
            <a:ext cx="219456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2200" b="1">
                <a:solidFill>
                  <a:srgbClr val="E53E5A"/>
                </a:solidFill>
                <a:latin typeface="Calibri"/>
              </a:rPr>
              <a:t>601.572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2240280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6B7785"/>
                </a:solidFill>
                <a:latin typeface="Calibri"/>
              </a:rPr>
              <a:t>peças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19 meses com uso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1.646 peças refugadas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8040" y="3017520"/>
            <a:ext cx="4663440" cy="3337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269480" y="3108960"/>
            <a:ext cx="18288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Composto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3108960"/>
            <a:ext cx="9144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Produzido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12680" y="3108960"/>
            <a:ext cx="7315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% Total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44200" y="3108960"/>
            <a:ext cx="6400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Refugo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384280" y="3108960"/>
            <a:ext cx="4572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E53E5A"/>
                </a:solidFill>
                <a:latin typeface="Calibri"/>
              </a:rPr>
              <a:t>Meses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69480" y="3456432"/>
            <a:ext cx="4572000" cy="8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269480" y="352044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1">
                <a:solidFill>
                  <a:srgbClr val="E53E5A"/>
                </a:solidFill>
                <a:latin typeface="Calibri"/>
              </a:rPr>
              <a:t>F424/50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3520440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601.572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12680" y="3520440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54,72 %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44200" y="3520440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1.646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84280" y="3520440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1">
                <a:solidFill>
                  <a:srgbClr val="E53E5A"/>
                </a:solidFill>
                <a:latin typeface="Calibri"/>
              </a:rPr>
              <a:t>19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3941064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N144/83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98280" y="3941064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410.372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12680" y="3941064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37,33 %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44200" y="3941064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1.184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84280" y="3941064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21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80" y="4361688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MASSA F420/95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8280" y="4361688"/>
            <a:ext cx="9144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87.433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12680" y="4361688"/>
            <a:ext cx="7315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7,95 %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44200" y="4361688"/>
            <a:ext cx="64008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176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84280" y="4361688"/>
            <a:ext cx="457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050" b="0">
                <a:solidFill>
                  <a:srgbClr val="333D4A"/>
                </a:solidFill>
                <a:latin typeface="Calibri"/>
              </a:rPr>
              <a:t>7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IJ-133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Controle de Qualidade — Taxa de Refugo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IJ-133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6675120" cy="534924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63093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Refugo por Composto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08760"/>
            <a:ext cx="6492240" cy="47548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178040" y="1005840"/>
            <a:ext cx="4663440" cy="2194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7178040" y="1143000"/>
            <a:ext cx="466344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400" b="1">
                <a:solidFill>
                  <a:srgbClr val="2CA57E"/>
                </a:solidFill>
                <a:latin typeface="Calibri"/>
              </a:rPr>
              <a:t>0,27 %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78040" y="1783080"/>
            <a:ext cx="466344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300" b="1">
                <a:solidFill>
                  <a:srgbClr val="1F2D3D"/>
                </a:solidFill>
                <a:latin typeface="Calibri"/>
              </a:rPr>
              <a:t>Taxa de Refugo Global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219456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800" b="1">
                <a:solidFill>
                  <a:srgbClr val="E53E5A"/>
                </a:solidFill>
                <a:latin typeface="Calibri"/>
              </a:rPr>
              <a:t>3.006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6948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Peças refugadas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219456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800" b="1">
                <a:solidFill>
                  <a:srgbClr val="F1A13C"/>
                </a:solidFill>
                <a:latin typeface="Calibri"/>
              </a:rPr>
              <a:t>1.099.377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9760" y="2542032"/>
            <a:ext cx="2194560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Total produzido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2834640"/>
            <a:ext cx="3474720" cy="292608"/>
          </a:xfrm>
          <a:prstGeom prst="roundRect">
            <a:avLst>
              <a:gd name="adj" fmla="val 8000"/>
            </a:avLst>
          </a:prstGeom>
          <a:solidFill>
            <a:srgbClr val="E7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772400" y="2834640"/>
            <a:ext cx="3474720" cy="29260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100" b="1">
                <a:solidFill>
                  <a:srgbClr val="2CA57E"/>
                </a:solidFill>
                <a:latin typeface="Calibri"/>
              </a:rPr>
              <a:t>Dentro do limite aceitável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8040" y="3337560"/>
            <a:ext cx="4663440" cy="30175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315200" y="3429000"/>
            <a:ext cx="43891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400" b="1">
                <a:solidFill>
                  <a:srgbClr val="1F2D3D"/>
                </a:solidFill>
                <a:latin typeface="Calibri"/>
              </a:rPr>
              <a:t>Análise de Qualidade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3840480"/>
            <a:ext cx="2743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E53E5A"/>
                </a:solidFill>
                <a:latin typeface="Calibri"/>
              </a:rPr>
              <a:t>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3840480"/>
            <a:ext cx="4114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F424/50: maior volume de refugo absoluto (1.646 peças)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0" y="4434840"/>
            <a:ext cx="2743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89520" y="4434840"/>
            <a:ext cx="4114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Taxa mensal estável — sem pico de rejeição significativo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5029200"/>
            <a:ext cx="27432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200" b="0">
                <a:solidFill>
                  <a:srgbClr val="2CA57E"/>
                </a:solidFill>
                <a:latin typeface="Calibri"/>
              </a:rPr>
              <a:t>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5029200"/>
            <a:ext cx="4114800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50" b="0">
                <a:solidFill>
                  <a:srgbClr val="333D4A"/>
                </a:solidFill>
                <a:latin typeface="Calibri"/>
              </a:rPr>
              <a:t>Refugo geral abaixo de 1,5 % no período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IJ-133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Estratégia de Manutenção Preventiva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IJ-133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05840"/>
            <a:ext cx="7589520" cy="210312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73152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2D3D"/>
                </a:solidFill>
                <a:latin typeface="Calibri"/>
              </a:rPr>
              <a:t>Histórico de Manutenções RM.195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7406640" cy="16916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092440" y="1005840"/>
            <a:ext cx="3749039" cy="274320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8778240" y="1143000"/>
            <a:ext cx="2377440" cy="384048"/>
          </a:xfrm>
          <a:prstGeom prst="roundRect">
            <a:avLst>
              <a:gd name="adj" fmla="val 8000"/>
            </a:avLst>
          </a:prstGeom>
          <a:solidFill>
            <a:srgbClr val="E7F6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778240" y="1143000"/>
            <a:ext cx="2377440" cy="384048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200" b="1">
                <a:solidFill>
                  <a:srgbClr val="2CA57E"/>
                </a:solidFill>
                <a:latin typeface="Calibri"/>
              </a:rPr>
              <a:t>✓ 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92440" y="1691640"/>
            <a:ext cx="3749039" cy="6400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3600" b="1">
                <a:solidFill>
                  <a:srgbClr val="2CA57E"/>
                </a:solidFill>
                <a:latin typeface="Calibri"/>
              </a:rPr>
              <a:t>368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2331720"/>
            <a:ext cx="3749039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100" b="0">
                <a:solidFill>
                  <a:srgbClr val="6B7785"/>
                </a:solidFill>
                <a:latin typeface="Calibri"/>
              </a:rPr>
              <a:t>dias restantes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2697480"/>
            <a:ext cx="3749039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600" b="1">
                <a:solidFill>
                  <a:srgbClr val="1F2D3D"/>
                </a:solidFill>
                <a:latin typeface="Calibri"/>
              </a:rPr>
              <a:t>30/04/2027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3063240"/>
            <a:ext cx="374903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Próxima manutenção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3337560"/>
            <a:ext cx="3749039" cy="2743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ctr"/>
            <a:r>
              <a:rPr sz="1000" b="0">
                <a:solidFill>
                  <a:srgbClr val="6B7785"/>
                </a:solidFill>
                <a:latin typeface="Calibri"/>
              </a:rPr>
              <a:t>Última troca: 05/07/2025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3246120"/>
            <a:ext cx="7589520" cy="31089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02920" y="3383280"/>
            <a:ext cx="182880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Componente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31720" y="3383280"/>
            <a:ext cx="128016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Valor Atual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383280"/>
            <a:ext cx="146304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Referência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3383280"/>
            <a:ext cx="73152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Fator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3383280"/>
            <a:ext cx="2011680" cy="32004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1">
                <a:solidFill>
                  <a:srgbClr val="E53E5A"/>
                </a:solidFill>
                <a:latin typeface="Calibri"/>
              </a:rPr>
              <a:t>Efeito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703320"/>
            <a:ext cx="7315200" cy="8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02920" y="379476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T_base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331720" y="379476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490,0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379476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Mediana histórica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0640" y="379476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0" y="379476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Ponto de partida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429768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Ampl. cil./fuso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31720" y="429768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cil. 0,020 / fuso 0,290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0" y="429768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429768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1,0000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852160" y="429768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Fator neutro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480060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Massa pós-troca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31720" y="480060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1.161,16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480060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mediana janelas anteriores: 1.626,68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0" y="480060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1,3000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852160" y="480060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consumiu **0,71×** a massa típica → adia a próxima troca (×1,300)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530352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Ociosidade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331720" y="530352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27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57600" y="530352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Últ. prod. → hoje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120640" y="530352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—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52160" y="530352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Desliza data p/ frente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11480" y="5760720"/>
            <a:ext cx="7498079" cy="502920"/>
          </a:xfrm>
          <a:prstGeom prst="roundRect">
            <a:avLst>
              <a:gd name="adj" fmla="val 8000"/>
            </a:avLst>
          </a:prstGeom>
          <a:solidFill>
            <a:srgbClr val="FC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02920" y="5806440"/>
            <a:ext cx="182880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T_prescrito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331720" y="5806440"/>
            <a:ext cx="128016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637,0 dias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657600" y="5806440"/>
            <a:ext cx="146304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490,0 × 1,0000 × 1,3000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120640" y="5806440"/>
            <a:ext cx="731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52160" y="5806440"/>
            <a:ext cx="201168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000" b="1">
                <a:solidFill>
                  <a:srgbClr val="E53E5A"/>
                </a:solidFill>
                <a:latin typeface="Calibri"/>
              </a:rPr>
              <a:t>Data: 30/04/2027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092440" y="3886200"/>
            <a:ext cx="3749039" cy="246888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8229600" y="3977639"/>
            <a:ext cx="347472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Níveis de Urgência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229600" y="443484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FBE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8229600" y="443484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E53E5A"/>
                </a:solidFill>
                <a:latin typeface="Calibri"/>
              </a:rPr>
              <a:t>ATRASADO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84080" y="443484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&lt; 0 dias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229600" y="484632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FCF0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6" name="TextBox 55"/>
          <p:cNvSpPr txBox="1"/>
          <p:nvPr/>
        </p:nvSpPr>
        <p:spPr>
          <a:xfrm>
            <a:off x="8229600" y="484632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F1A13C"/>
                </a:solidFill>
                <a:latin typeface="Calibri"/>
              </a:rPr>
              <a:t>URGENTE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84080" y="484632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0 – 29 dias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229600" y="525780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FAF5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8229600" y="525780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E3C047"/>
                </a:solidFill>
                <a:latin typeface="Calibri"/>
              </a:rPr>
              <a:t>ATENÇÃO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784080" y="525780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30 – 89 dias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8229600" y="5669280"/>
            <a:ext cx="1417320" cy="320040"/>
          </a:xfrm>
          <a:prstGeom prst="roundRect">
            <a:avLst>
              <a:gd name="adj" fmla="val 8000"/>
            </a:avLst>
          </a:prstGeom>
          <a:solidFill>
            <a:srgbClr val="DFF1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2" name="TextBox 61"/>
          <p:cNvSpPr txBox="1"/>
          <p:nvPr/>
        </p:nvSpPr>
        <p:spPr>
          <a:xfrm>
            <a:off x="8229600" y="5669280"/>
            <a:ext cx="141732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ctr"/>
            <a:r>
              <a:rPr sz="1000" b="1">
                <a:solidFill>
                  <a:srgbClr val="2CA57E"/>
                </a:solidFill>
                <a:latin typeface="Calibri"/>
              </a:rPr>
              <a:t>✓ OK — ATUAL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784080" y="5669280"/>
            <a:ext cx="192024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000" b="0">
                <a:solidFill>
                  <a:srgbClr val="333D4A"/>
                </a:solidFill>
                <a:latin typeface="Calibri"/>
              </a:rPr>
              <a:t>≥ 90 dias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IJ-133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Referência: 27/04/2026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749808"/>
            <a:ext cx="12191695" cy="2800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96012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2600" b="1">
                <a:solidFill>
                  <a:srgbClr val="1F2D3D"/>
                </a:solidFill>
                <a:latin typeface="Calibri"/>
              </a:rPr>
              <a:t>Conclusões e Insights Operacionais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37160"/>
            <a:ext cx="1828800" cy="5486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800" b="1">
                <a:solidFill>
                  <a:srgbClr val="E53E5A"/>
                </a:solidFill>
                <a:latin typeface="Calibri"/>
              </a:rPr>
              <a:t>IJ-133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6858000" cy="41148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500" b="1">
                <a:solidFill>
                  <a:srgbClr val="1F2D3D"/>
                </a:solidFill>
                <a:latin typeface="Calibri"/>
              </a:rPr>
              <a:t>Principais Conclusões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508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8" name="Rectangle 7"/>
          <p:cNvSpPr/>
          <p:nvPr/>
        </p:nvSpPr>
        <p:spPr>
          <a:xfrm>
            <a:off x="365760" y="1508760"/>
            <a:ext cx="50000" cy="1051560"/>
          </a:xfrm>
          <a:prstGeom prst="rect">
            <a:avLst/>
          </a:prstGeom>
          <a:solidFill>
            <a:srgbClr val="2C6E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94360" y="1645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Produção Consistente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011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1.099.377 peças em 23 meses com pico histórico de 78.520 em Out/2025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2651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365760" y="2651760"/>
            <a:ext cx="50000" cy="1051560"/>
          </a:xfrm>
          <a:prstGeom prst="rect">
            <a:avLst/>
          </a:prstGeom>
          <a:solidFill>
            <a:srgbClr val="E53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594360" y="2788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Dominância do F424/50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154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54,72 % da produção — composto principal por 19 meses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3794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365760" y="3794760"/>
            <a:ext cx="50000" cy="1051560"/>
          </a:xfrm>
          <a:prstGeom prst="rect">
            <a:avLst/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594360" y="3931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Qualidade Controlada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" y="4297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Taxa de refugo de apenas 0,27 % — desempenho estável em todo o período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4937760"/>
            <a:ext cx="6858000" cy="10515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365760" y="4937760"/>
            <a:ext cx="50000" cy="1051560"/>
          </a:xfrm>
          <a:prstGeom prst="rect">
            <a:avLst/>
          </a:prstGeom>
          <a:solidFill>
            <a:srgbClr val="F1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94360" y="5074920"/>
            <a:ext cx="6400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300" b="1">
                <a:solidFill>
                  <a:srgbClr val="1F2D3D"/>
                </a:solidFill>
                <a:latin typeface="Calibri"/>
              </a:rPr>
              <a:t>Manutenção Planejada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5440680"/>
            <a:ext cx="6400800" cy="50292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Próxima intervenção prevista para 30/04/2027 — 368 dias de folga operacional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06640" y="1005840"/>
            <a:ext cx="4434840" cy="5394960"/>
          </a:xfrm>
          <a:prstGeom prst="roundRect">
            <a:avLst>
              <a:gd name="adj" fmla="val 8000"/>
            </a:avLst>
          </a:prstGeom>
          <a:solidFill>
            <a:srgbClr val="F5F7FA"/>
          </a:solidFill>
          <a:ln w="9525">
            <a:solidFill>
              <a:srgbClr val="D0D7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589520" y="1097280"/>
            <a:ext cx="4160520" cy="45720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600" b="1">
                <a:solidFill>
                  <a:srgbClr val="1F2D3D"/>
                </a:solidFill>
                <a:latin typeface="Calibri"/>
              </a:rPr>
              <a:t>Scorecard Operacional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89520" y="169164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Volume Total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84080" y="169164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1.099.377 peças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658600" y="181051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8" name="Rectangle 27"/>
          <p:cNvSpPr/>
          <p:nvPr/>
        </p:nvSpPr>
        <p:spPr>
          <a:xfrm>
            <a:off x="7589520" y="210312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589520" y="219456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Período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84080" y="219456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23 meses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658600" y="231343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2" name="Rectangle 31"/>
          <p:cNvSpPr/>
          <p:nvPr/>
        </p:nvSpPr>
        <p:spPr>
          <a:xfrm>
            <a:off x="7589520" y="260604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7589520" y="269748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Compostos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269748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3 tipos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1658600" y="281635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7589520" y="310896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589520" y="320040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Taxa de Refugo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784080" y="320040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0,27 %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1658600" y="331927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0" name="Rectangle 39"/>
          <p:cNvSpPr/>
          <p:nvPr/>
        </p:nvSpPr>
        <p:spPr>
          <a:xfrm>
            <a:off x="7589520" y="361188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7589520" y="370332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Pico Mensal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84080" y="370332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78.520 peças — Out/2025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1658600" y="382219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F1A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7589520" y="411480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7589520" y="4206240"/>
            <a:ext cx="219456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l"/>
            <a:r>
              <a:rPr sz="1100" b="0">
                <a:solidFill>
                  <a:srgbClr val="333D4A"/>
                </a:solidFill>
                <a:latin typeface="Calibri"/>
              </a:rPr>
              <a:t>Próxima Manutenção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784080" y="4206240"/>
            <a:ext cx="1828800" cy="365760"/>
          </a:xfrm>
          <a:prstGeom prst="rect">
            <a:avLst/>
          </a:prstGeom>
          <a:noFill/>
        </p:spPr>
        <p:txBody>
          <a:bodyPr wrap="square" lIns="36000" rIns="36000" tIns="18000" bIns="18000" anchor="t">
            <a:spAutoFit/>
          </a:bodyPr>
          <a:lstStyle/>
          <a:p>
            <a:pPr algn="r"/>
            <a:r>
              <a:rPr sz="1100" b="1">
                <a:solidFill>
                  <a:srgbClr val="1F2D3D"/>
                </a:solidFill>
                <a:latin typeface="Calibri"/>
              </a:rPr>
              <a:t>30/04/2027 (368 dias)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1658600" y="4325112"/>
            <a:ext cx="118872" cy="118872"/>
          </a:xfrm>
          <a:prstGeom prst="roundRect">
            <a:avLst>
              <a:gd name="adj" fmla="val 8000"/>
            </a:avLst>
          </a:prstGeom>
          <a:solidFill>
            <a:srgbClr val="2CA5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8" name="Rectangle 47"/>
          <p:cNvSpPr/>
          <p:nvPr/>
        </p:nvSpPr>
        <p:spPr>
          <a:xfrm>
            <a:off x="7589520" y="4617720"/>
            <a:ext cx="4160520" cy="4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9" name="Rectangle 48"/>
          <p:cNvSpPr/>
          <p:nvPr/>
        </p:nvSpPr>
        <p:spPr>
          <a:xfrm>
            <a:off x="0" y="6446520"/>
            <a:ext cx="12191695" cy="15000"/>
          </a:xfrm>
          <a:prstGeom prst="rect">
            <a:avLst/>
          </a:prstGeom>
          <a:solidFill>
            <a:srgbClr val="D0D7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457200" y="6510528"/>
            <a:ext cx="73152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l"/>
            <a:r>
              <a:rPr sz="1100" b="0">
                <a:solidFill>
                  <a:srgbClr val="6B7785"/>
                </a:solidFill>
                <a:latin typeface="Calibri"/>
              </a:rPr>
              <a:t>Relatório Mensal — Componente IJ-133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772400" y="6510528"/>
            <a:ext cx="4114800" cy="320040"/>
          </a:xfrm>
          <a:prstGeom prst="rect">
            <a:avLst/>
          </a:prstGeom>
          <a:noFill/>
        </p:spPr>
        <p:txBody>
          <a:bodyPr wrap="square" lIns="36000" rIns="36000" tIns="18000" bIns="18000" anchor="ctr">
            <a:spAutoFit/>
          </a:bodyPr>
          <a:lstStyle/>
          <a:p>
            <a:pPr algn="r"/>
            <a:r>
              <a:rPr sz="1100" b="0">
                <a:solidFill>
                  <a:srgbClr val="6B7785"/>
                </a:solidFill>
                <a:latin typeface="Calibri"/>
              </a:rPr>
              <a:t>Mai/2024 → Mar/2026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
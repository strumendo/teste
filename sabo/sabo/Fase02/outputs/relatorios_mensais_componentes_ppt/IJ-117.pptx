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53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3" name="Rounded Rectangle 2"/>
          <p:cNvSpPr/>
          <p:nvPr/>
        </p:nvSpPr>
        <p:spPr>
          <a:xfrm>
            <a:off x="548640" y="1280160"/>
            <a:ext cx="822960" cy="457200"/>
          </a:xfrm>
          <a:prstGeom prst="roundRect">
            <a:avLst>
              <a:gd name="adj" fmla="val 8000"/>
            </a:avLst>
          </a:prstGeom>
          <a:solidFill>
            <a:srgbClr val="F1A1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48640" y="1280160"/>
            <a:ext cx="822960" cy="4572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IJ-117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828800"/>
            <a:ext cx="5029200" cy="2560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4400" b="1">
                <a:solidFill>
                  <a:srgbClr val="1F2D3D"/>
                </a:solidFill>
                <a:latin typeface="Calibri"/>
              </a:rPr>
              <a:t>Relatório</a:t>
            </a:r>
          </a:p>
          <a:p>
            <a:pPr algn="l"/>
            <a:r>
              <a:rPr sz="4400" b="1">
                <a:solidFill>
                  <a:srgbClr val="1F2D3D"/>
                </a:solidFill>
                <a:latin typeface="Calibri"/>
              </a:rPr>
              <a:t>Mensal</a:t>
            </a:r>
          </a:p>
          <a:p>
            <a:pPr algn="l"/>
            <a:r>
              <a:rPr sz="4400" b="1">
                <a:solidFill>
                  <a:srgbClr val="1F2D3D"/>
                </a:solidFill>
                <a:latin typeface="Calibri"/>
              </a:rPr>
              <a:t>por</a:t>
            </a:r>
          </a:p>
          <a:p>
            <a:pPr algn="l"/>
            <a:r>
              <a:rPr sz="4400" b="1">
                <a:solidFill>
                  <a:srgbClr val="1F2D3D"/>
                </a:solidFill>
                <a:latin typeface="Calibri"/>
              </a:rPr>
              <a:t>Componente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572000"/>
            <a:ext cx="50292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400" b="0">
                <a:solidFill>
                  <a:srgbClr val="333D4A"/>
                </a:solidFill>
                <a:latin typeface="Calibri"/>
              </a:rPr>
              <a:t>Análise de desempenho · Mai/2024 → Mar/2026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4983480"/>
            <a:ext cx="50292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200" b="0">
                <a:solidFill>
                  <a:srgbClr val="6B7785"/>
                </a:solidFill>
                <a:latin typeface="Calibri"/>
              </a:rPr>
              <a:t>Produção · Qualidade · Manutenção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0" y="1280160"/>
            <a:ext cx="5212080" cy="1280160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9525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6675120" y="1417320"/>
            <a:ext cx="1828800" cy="5486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800" b="1">
                <a:solidFill>
                  <a:srgbClr val="E53E5A"/>
                </a:solidFill>
                <a:latin typeface="Calibri"/>
              </a:rPr>
              <a:t>555.603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75120" y="1920240"/>
            <a:ext cx="466344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400" b="1">
                <a:solidFill>
                  <a:srgbClr val="1F2D3D"/>
                </a:solidFill>
                <a:latin typeface="Calibri"/>
              </a:rPr>
              <a:t>Peças produzidas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75120" y="2194560"/>
            <a:ext cx="466344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0">
                <a:solidFill>
                  <a:srgbClr val="6B7785"/>
                </a:solidFill>
                <a:latin typeface="Calibri"/>
              </a:rPr>
              <a:t>Mai/2024 → Mar/2026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0" y="2788920"/>
            <a:ext cx="5212080" cy="1280160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9525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6675120" y="2926080"/>
            <a:ext cx="1828800" cy="5486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800" b="1">
                <a:solidFill>
                  <a:srgbClr val="F1A13C"/>
                </a:solidFill>
                <a:latin typeface="Calibri"/>
              </a:rPr>
              <a:t>12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75120" y="3429000"/>
            <a:ext cx="466344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400" b="1">
                <a:solidFill>
                  <a:srgbClr val="1F2D3D"/>
                </a:solidFill>
                <a:latin typeface="Calibri"/>
              </a:rPr>
              <a:t>Compostos utilizados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75120" y="3703320"/>
            <a:ext cx="466344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0">
                <a:solidFill>
                  <a:srgbClr val="6B7785"/>
                </a:solidFill>
                <a:latin typeface="Calibri"/>
              </a:rPr>
              <a:t>23 meses de operação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0" y="4297680"/>
            <a:ext cx="5212080" cy="1280160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9525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6675120" y="4434840"/>
            <a:ext cx="1828800" cy="5486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800" b="1">
                <a:solidFill>
                  <a:srgbClr val="2CA57E"/>
                </a:solidFill>
                <a:latin typeface="Calibri"/>
              </a:rPr>
              <a:t>1,88 %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75120" y="4937760"/>
            <a:ext cx="466344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400" b="1">
                <a:solidFill>
                  <a:srgbClr val="1F2D3D"/>
                </a:solidFill>
                <a:latin typeface="Calibri"/>
              </a:rPr>
              <a:t>Taxa de refugo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75120" y="5212080"/>
            <a:ext cx="466344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0">
                <a:solidFill>
                  <a:srgbClr val="6B7785"/>
                </a:solidFill>
                <a:latin typeface="Calibri"/>
              </a:rPr>
              <a:t>10.440 peças refugadas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749808"/>
            <a:ext cx="12191695" cy="28000"/>
          </a:xfrm>
          <a:prstGeom prst="rect">
            <a:avLst/>
          </a:prstGeom>
          <a:solidFill>
            <a:srgbClr val="E53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9601200" cy="5486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2600" b="1">
                <a:solidFill>
                  <a:srgbClr val="1F2D3D"/>
                </a:solidFill>
                <a:latin typeface="Calibri"/>
              </a:rPr>
              <a:t>Visão Executiva da Produção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0" y="137160"/>
            <a:ext cx="1828800" cy="5486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r"/>
            <a:r>
              <a:rPr sz="1800" b="1">
                <a:solidFill>
                  <a:srgbClr val="E53E5A"/>
                </a:solidFill>
                <a:latin typeface="Calibri"/>
              </a:rPr>
              <a:t>IJ-117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1005840"/>
            <a:ext cx="2788920" cy="1417320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9525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365760" y="1143000"/>
            <a:ext cx="2788920" cy="64008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2600" b="1">
                <a:solidFill>
                  <a:srgbClr val="E53E5A"/>
                </a:solidFill>
                <a:latin typeface="Calibri"/>
              </a:rPr>
              <a:t>555.603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1737360"/>
            <a:ext cx="2788920" cy="3200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200" b="1">
                <a:solidFill>
                  <a:srgbClr val="1F2D3D"/>
                </a:solidFill>
                <a:latin typeface="Calibri"/>
              </a:rPr>
              <a:t>Total Produzido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2057400"/>
            <a:ext cx="2788920" cy="3200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000" b="0">
                <a:solidFill>
                  <a:srgbClr val="6B7785"/>
                </a:solidFill>
                <a:latin typeface="Calibri"/>
              </a:rPr>
              <a:t>peças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46120" y="1005840"/>
            <a:ext cx="2788920" cy="1417320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9525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3246120" y="1143000"/>
            <a:ext cx="2788920" cy="64008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2600" b="1">
                <a:solidFill>
                  <a:srgbClr val="F1A13C"/>
                </a:solidFill>
                <a:latin typeface="Calibri"/>
              </a:rPr>
              <a:t>23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46120" y="1737360"/>
            <a:ext cx="2788920" cy="3200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200" b="1">
                <a:solidFill>
                  <a:srgbClr val="1F2D3D"/>
                </a:solidFill>
                <a:latin typeface="Calibri"/>
              </a:rPr>
              <a:t>Meses de Operação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46120" y="2057400"/>
            <a:ext cx="2788920" cy="3200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000" b="0">
                <a:solidFill>
                  <a:srgbClr val="6B7785"/>
                </a:solidFill>
                <a:latin typeface="Calibri"/>
              </a:rPr>
              <a:t>Mai/2024 → Mar/2026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26480" y="1005840"/>
            <a:ext cx="2788920" cy="1417320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9525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6126480" y="1143000"/>
            <a:ext cx="2788920" cy="64008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2600" b="1">
                <a:solidFill>
                  <a:srgbClr val="2C6EC9"/>
                </a:solidFill>
                <a:latin typeface="Calibri"/>
              </a:rPr>
              <a:t>12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26480" y="1737360"/>
            <a:ext cx="2788920" cy="3200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200" b="1">
                <a:solidFill>
                  <a:srgbClr val="1F2D3D"/>
                </a:solidFill>
                <a:latin typeface="Calibri"/>
              </a:rPr>
              <a:t>Compostos Distintos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26480" y="2057400"/>
            <a:ext cx="2788920" cy="3200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000" b="0">
                <a:solidFill>
                  <a:srgbClr val="6B7785"/>
                </a:solidFill>
                <a:latin typeface="Calibri"/>
              </a:rPr>
              <a:t>utilizados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006840" y="1005840"/>
            <a:ext cx="2788920" cy="1417320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9525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006840" y="1143000"/>
            <a:ext cx="2788920" cy="64008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2600" b="1">
                <a:solidFill>
                  <a:srgbClr val="E53E5A"/>
                </a:solidFill>
                <a:latin typeface="Calibri"/>
              </a:rPr>
              <a:t>1,88 %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06840" y="1737360"/>
            <a:ext cx="2788920" cy="3200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200" b="1">
                <a:solidFill>
                  <a:srgbClr val="1F2D3D"/>
                </a:solidFill>
                <a:latin typeface="Calibri"/>
              </a:rPr>
              <a:t>Taxa de Refugo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06840" y="2057400"/>
            <a:ext cx="2788920" cy="3200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000" b="0">
                <a:solidFill>
                  <a:srgbClr val="6B7785"/>
                </a:solidFill>
                <a:latin typeface="Calibri"/>
              </a:rPr>
              <a:t>10.440 peças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65760" y="2606040"/>
            <a:ext cx="6858000" cy="3657600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9525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548640" y="2743200"/>
            <a:ext cx="6400800" cy="4114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600" b="1">
                <a:solidFill>
                  <a:srgbClr val="1F2D3D"/>
                </a:solidFill>
                <a:latin typeface="Calibri"/>
              </a:rPr>
              <a:t>Destaques do Período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3246120"/>
            <a:ext cx="36576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400" b="0">
                <a:solidFill>
                  <a:srgbClr val="2CA57E"/>
                </a:solidFill>
                <a:latin typeface="Calibri"/>
              </a:rPr>
              <a:t>✓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0120" y="3246120"/>
            <a:ext cx="612648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200" b="0">
                <a:solidFill>
                  <a:srgbClr val="333D4A"/>
                </a:solidFill>
                <a:latin typeface="Calibri"/>
              </a:rPr>
              <a:t>Pico de produção em Abr/2025: 59.226 peças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" y="3886200"/>
            <a:ext cx="36576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400" b="0">
                <a:solidFill>
                  <a:srgbClr val="2CA57E"/>
                </a:solidFill>
                <a:latin typeface="Calibri"/>
              </a:rPr>
              <a:t>✓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60120" y="3886200"/>
            <a:ext cx="612648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200" b="0">
                <a:solidFill>
                  <a:srgbClr val="333D4A"/>
                </a:solidFill>
                <a:latin typeface="Calibri"/>
              </a:rPr>
              <a:t>P250/14 lidera com 26,15 % da produção total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" y="4526280"/>
            <a:ext cx="36576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400" b="0">
                <a:solidFill>
                  <a:srgbClr val="2CA57E"/>
                </a:solidFill>
                <a:latin typeface="Calibri"/>
              </a:rPr>
              <a:t>✓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0120" y="4526280"/>
            <a:ext cx="612648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200" b="0">
                <a:solidFill>
                  <a:srgbClr val="333D4A"/>
                </a:solidFill>
                <a:latin typeface="Calibri"/>
              </a:rPr>
              <a:t>Taxa de refugo de 1,88 % no período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" y="5166360"/>
            <a:ext cx="36576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400" b="0">
                <a:solidFill>
                  <a:srgbClr val="2CA57E"/>
                </a:solidFill>
                <a:latin typeface="Calibri"/>
              </a:rPr>
              <a:t>✓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60120" y="5166360"/>
            <a:ext cx="612648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200" b="0">
                <a:solidFill>
                  <a:srgbClr val="333D4A"/>
                </a:solidFill>
                <a:latin typeface="Calibri"/>
              </a:rPr>
              <a:t>Última troca em 20/06/2025 — próxima prescrita em 23/04/2027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406640" y="2606040"/>
            <a:ext cx="4434840" cy="3657600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9525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7406640" y="2743200"/>
            <a:ext cx="4434840" cy="4114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600" b="1">
                <a:solidFill>
                  <a:srgbClr val="1F2D3D"/>
                </a:solidFill>
                <a:latin typeface="Calibri"/>
              </a:rPr>
              <a:t>Aprovado vs. Refugado</a:t>
            </a:r>
          </a:p>
        </p:txBody>
      </p:sp>
      <p:pic>
        <p:nvPicPr>
          <p:cNvPr id="34" name="Picture 3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79" y="3154680"/>
            <a:ext cx="4206240" cy="3017520"/>
          </a:xfrm>
          <a:prstGeom prst="rect">
            <a:avLst/>
          </a:prstGeom>
        </p:spPr>
      </p:pic>
      <p:sp>
        <p:nvSpPr>
          <p:cNvPr id="35" name="Rectangle 34"/>
          <p:cNvSpPr/>
          <p:nvPr/>
        </p:nvSpPr>
        <p:spPr>
          <a:xfrm>
            <a:off x="0" y="6446520"/>
            <a:ext cx="12191695" cy="15000"/>
          </a:xfrm>
          <a:prstGeom prst="rect">
            <a:avLst/>
          </a:prstGeom>
          <a:solidFill>
            <a:srgbClr val="D0D7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36" name="TextBox 35"/>
          <p:cNvSpPr txBox="1"/>
          <p:nvPr/>
        </p:nvSpPr>
        <p:spPr>
          <a:xfrm>
            <a:off x="457200" y="6510528"/>
            <a:ext cx="7315200" cy="3200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100" b="0">
                <a:solidFill>
                  <a:srgbClr val="6B7785"/>
                </a:solidFill>
                <a:latin typeface="Calibri"/>
              </a:rPr>
              <a:t>Relatório Mensal — Componente IJ-117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772400" y="6510528"/>
            <a:ext cx="4114800" cy="3200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r"/>
            <a:r>
              <a:rPr sz="1100" b="0">
                <a:solidFill>
                  <a:srgbClr val="6B7785"/>
                </a:solidFill>
                <a:latin typeface="Calibri"/>
              </a:rPr>
              <a:t>Mai/2024 → Mar/2026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749808"/>
            <a:ext cx="12191695" cy="28000"/>
          </a:xfrm>
          <a:prstGeom prst="rect">
            <a:avLst/>
          </a:prstGeom>
          <a:solidFill>
            <a:srgbClr val="E53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9601200" cy="5486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2600" b="1">
                <a:solidFill>
                  <a:srgbClr val="1F2D3D"/>
                </a:solidFill>
                <a:latin typeface="Calibri"/>
              </a:rPr>
              <a:t>Tendências de Produção Mensal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0" y="137160"/>
            <a:ext cx="1828800" cy="5486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r"/>
            <a:r>
              <a:rPr sz="1800" b="1">
                <a:solidFill>
                  <a:srgbClr val="E53E5A"/>
                </a:solidFill>
                <a:latin typeface="Calibri"/>
              </a:rPr>
              <a:t>IJ-117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1005840"/>
            <a:ext cx="3794760" cy="1188720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9525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640080" y="1097280"/>
            <a:ext cx="3246120" cy="5029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400" b="1">
                <a:solidFill>
                  <a:srgbClr val="E53E5A"/>
                </a:solidFill>
                <a:latin typeface="Calibri"/>
              </a:rPr>
              <a:t>59.226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554480"/>
            <a:ext cx="324612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300" b="1">
                <a:solidFill>
                  <a:srgbClr val="1F2D3D"/>
                </a:solidFill>
                <a:latin typeface="Calibri"/>
              </a:rPr>
              <a:t>Pico de Produção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847088"/>
            <a:ext cx="324612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6B7785"/>
                </a:solidFill>
                <a:latin typeface="Calibri"/>
              </a:rPr>
              <a:t>Abr/2025 — recorde do período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51960" y="1005840"/>
            <a:ext cx="3794760" cy="1188720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9525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4526280" y="1097280"/>
            <a:ext cx="3246120" cy="5029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400" b="1">
                <a:solidFill>
                  <a:srgbClr val="F1A13C"/>
                </a:solidFill>
                <a:latin typeface="Calibri"/>
              </a:rPr>
              <a:t>24.157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26280" y="1554480"/>
            <a:ext cx="324612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300" b="1">
                <a:solidFill>
                  <a:srgbClr val="1F2D3D"/>
                </a:solidFill>
                <a:latin typeface="Calibri"/>
              </a:rPr>
              <a:t>Média Mensal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26280" y="1847088"/>
            <a:ext cx="324612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6B7785"/>
                </a:solidFill>
                <a:latin typeface="Calibri"/>
              </a:rPr>
              <a:t>Calculada sobre 23 meses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38160" y="1005840"/>
            <a:ext cx="3794760" cy="1188720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9525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8412480" y="1097280"/>
            <a:ext cx="3246120" cy="5029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400" b="1">
                <a:solidFill>
                  <a:srgbClr val="2C6EC9"/>
                </a:solidFill>
                <a:latin typeface="Calibri"/>
              </a:rPr>
              <a:t>5.516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80" y="1554480"/>
            <a:ext cx="324612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300" b="1">
                <a:solidFill>
                  <a:srgbClr val="1F2D3D"/>
                </a:solidFill>
                <a:latin typeface="Calibri"/>
              </a:rPr>
              <a:t>Menor Mês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12480" y="1847088"/>
            <a:ext cx="324612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6B7785"/>
                </a:solidFill>
                <a:latin typeface="Calibri"/>
              </a:rPr>
              <a:t>Mai/2024 — menor volume registrado</a:t>
            </a:r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2331720"/>
            <a:ext cx="11475720" cy="4023360"/>
          </a:xfrm>
          <a:prstGeom prst="rect">
            <a:avLst/>
          </a:prstGeom>
        </p:spPr>
      </p:pic>
      <p:sp>
        <p:nvSpPr>
          <p:cNvPr id="19" name="Rectangle 18"/>
          <p:cNvSpPr/>
          <p:nvPr/>
        </p:nvSpPr>
        <p:spPr>
          <a:xfrm>
            <a:off x="0" y="6446520"/>
            <a:ext cx="12191695" cy="15000"/>
          </a:xfrm>
          <a:prstGeom prst="rect">
            <a:avLst/>
          </a:prstGeom>
          <a:solidFill>
            <a:srgbClr val="D0D7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457200" y="6510528"/>
            <a:ext cx="7315200" cy="3200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100" b="0">
                <a:solidFill>
                  <a:srgbClr val="6B7785"/>
                </a:solidFill>
                <a:latin typeface="Calibri"/>
              </a:rPr>
              <a:t>Relatório Mensal — Componente IJ-117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0" y="6510528"/>
            <a:ext cx="4114800" cy="3200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r"/>
            <a:r>
              <a:rPr sz="1100" b="0">
                <a:solidFill>
                  <a:srgbClr val="6B7785"/>
                </a:solidFill>
                <a:latin typeface="Calibri"/>
              </a:rPr>
              <a:t>Mai/2024 → Mar/2026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749808"/>
            <a:ext cx="12191695" cy="28000"/>
          </a:xfrm>
          <a:prstGeom prst="rect">
            <a:avLst/>
          </a:prstGeom>
          <a:solidFill>
            <a:srgbClr val="E53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9601200" cy="5486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2600" b="1">
                <a:solidFill>
                  <a:srgbClr val="1F2D3D"/>
                </a:solidFill>
                <a:latin typeface="Calibri"/>
              </a:rPr>
              <a:t>Análise de Materiais e Compostos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0" y="137160"/>
            <a:ext cx="1828800" cy="5486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r"/>
            <a:r>
              <a:rPr sz="1800" b="1">
                <a:solidFill>
                  <a:srgbClr val="E53E5A"/>
                </a:solidFill>
                <a:latin typeface="Calibri"/>
              </a:rPr>
              <a:t>IJ-117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1005840"/>
            <a:ext cx="6675120" cy="5349240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9525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548640" y="1097280"/>
            <a:ext cx="630936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600" b="1">
                <a:solidFill>
                  <a:srgbClr val="1F2D3D"/>
                </a:solidFill>
                <a:latin typeface="Calibri"/>
              </a:rPr>
              <a:t>Volume por Composto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508760"/>
            <a:ext cx="6492240" cy="475488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7178040" y="1005840"/>
            <a:ext cx="4663440" cy="1874519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9525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7315200" y="1097280"/>
            <a:ext cx="438912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0">
                <a:solidFill>
                  <a:srgbClr val="6B7785"/>
                </a:solidFill>
                <a:latin typeface="Calibri"/>
              </a:rPr>
              <a:t>Composto Dominante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0" y="1371600"/>
            <a:ext cx="438912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500" b="1">
                <a:solidFill>
                  <a:srgbClr val="1F2D3D"/>
                </a:solidFill>
                <a:latin typeface="Calibri"/>
              </a:rPr>
              <a:t>P250/14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0" y="1783080"/>
            <a:ext cx="2194560" cy="4114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200" b="1">
                <a:solidFill>
                  <a:srgbClr val="E53E5A"/>
                </a:solidFill>
                <a:latin typeface="Calibri"/>
              </a:rPr>
              <a:t>26,15 %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0" y="2240280"/>
            <a:ext cx="219456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6B7785"/>
                </a:solidFill>
                <a:latin typeface="Calibri"/>
              </a:rPr>
              <a:t>do total produzido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509760" y="1783080"/>
            <a:ext cx="2194560" cy="4114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200" b="1">
                <a:solidFill>
                  <a:srgbClr val="E53E5A"/>
                </a:solidFill>
                <a:latin typeface="Calibri"/>
              </a:rPr>
              <a:t>145.296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509760" y="2240280"/>
            <a:ext cx="219456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6B7785"/>
                </a:solidFill>
                <a:latin typeface="Calibri"/>
              </a:rPr>
              <a:t>peças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0" y="2542032"/>
            <a:ext cx="219456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0">
                <a:solidFill>
                  <a:srgbClr val="333D4A"/>
                </a:solidFill>
                <a:latin typeface="Calibri"/>
              </a:rPr>
              <a:t>17 meses com uso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509760" y="2542032"/>
            <a:ext cx="219456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0">
                <a:solidFill>
                  <a:srgbClr val="333D4A"/>
                </a:solidFill>
                <a:latin typeface="Calibri"/>
              </a:rPr>
              <a:t>3.996 peças refugadas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178040" y="3017520"/>
            <a:ext cx="4663440" cy="3337560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9525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7269480" y="3108960"/>
            <a:ext cx="182880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1">
                <a:solidFill>
                  <a:srgbClr val="E53E5A"/>
                </a:solidFill>
                <a:latin typeface="Calibri"/>
              </a:rPr>
              <a:t>Composto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98280" y="3108960"/>
            <a:ext cx="91440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1100" b="1">
                <a:solidFill>
                  <a:srgbClr val="E53E5A"/>
                </a:solidFill>
                <a:latin typeface="Calibri"/>
              </a:rPr>
              <a:t>Produzido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12680" y="3108960"/>
            <a:ext cx="73152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1100" b="1">
                <a:solidFill>
                  <a:srgbClr val="E53E5A"/>
                </a:solidFill>
                <a:latin typeface="Calibri"/>
              </a:rPr>
              <a:t>% Total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744200" y="3108960"/>
            <a:ext cx="64008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1100" b="1">
                <a:solidFill>
                  <a:srgbClr val="E53E5A"/>
                </a:solidFill>
                <a:latin typeface="Calibri"/>
              </a:rPr>
              <a:t>Refugo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384280" y="3108960"/>
            <a:ext cx="45720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1100" b="1">
                <a:solidFill>
                  <a:srgbClr val="E53E5A"/>
                </a:solidFill>
                <a:latin typeface="Calibri"/>
              </a:rPr>
              <a:t>Meses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269480" y="3456432"/>
            <a:ext cx="4572000" cy="8000"/>
          </a:xfrm>
          <a:prstGeom prst="rect">
            <a:avLst/>
          </a:prstGeom>
          <a:solidFill>
            <a:srgbClr val="D0D7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7269480" y="3520440"/>
            <a:ext cx="18288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50" b="1">
                <a:solidFill>
                  <a:srgbClr val="E53E5A"/>
                </a:solidFill>
                <a:latin typeface="Calibri"/>
              </a:rPr>
              <a:t>P250/14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098280" y="3520440"/>
            <a:ext cx="9144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1050" b="1">
                <a:solidFill>
                  <a:srgbClr val="E53E5A"/>
                </a:solidFill>
                <a:latin typeface="Calibri"/>
              </a:rPr>
              <a:t>145.296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012680" y="3520440"/>
            <a:ext cx="73152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1050" b="1">
                <a:solidFill>
                  <a:srgbClr val="E53E5A"/>
                </a:solidFill>
                <a:latin typeface="Calibri"/>
              </a:rPr>
              <a:t>26,15 %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744200" y="3520440"/>
            <a:ext cx="64008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1050" b="1">
                <a:solidFill>
                  <a:srgbClr val="E53E5A"/>
                </a:solidFill>
                <a:latin typeface="Calibri"/>
              </a:rPr>
              <a:t>3.996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84280" y="3520440"/>
            <a:ext cx="4572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1050" b="1">
                <a:solidFill>
                  <a:srgbClr val="E53E5A"/>
                </a:solidFill>
                <a:latin typeface="Calibri"/>
              </a:rPr>
              <a:t>17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269480" y="3941064"/>
            <a:ext cx="18288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50" b="0">
                <a:solidFill>
                  <a:srgbClr val="333D4A"/>
                </a:solidFill>
                <a:latin typeface="Calibri"/>
              </a:rPr>
              <a:t>MASSA S315/10 MACARRÃO 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098280" y="3941064"/>
            <a:ext cx="9144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1050" b="0">
                <a:solidFill>
                  <a:srgbClr val="333D4A"/>
                </a:solidFill>
                <a:latin typeface="Calibri"/>
              </a:rPr>
              <a:t>116.171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012680" y="3941064"/>
            <a:ext cx="73152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1050" b="0">
                <a:solidFill>
                  <a:srgbClr val="333D4A"/>
                </a:solidFill>
                <a:latin typeface="Calibri"/>
              </a:rPr>
              <a:t>20,91 %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744200" y="3941064"/>
            <a:ext cx="64008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1050" b="0">
                <a:solidFill>
                  <a:srgbClr val="333D4A"/>
                </a:solidFill>
                <a:latin typeface="Calibri"/>
              </a:rPr>
              <a:t>2.624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384280" y="3941064"/>
            <a:ext cx="4572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1050" b="0">
                <a:solidFill>
                  <a:srgbClr val="333D4A"/>
                </a:solidFill>
                <a:latin typeface="Calibri"/>
              </a:rPr>
              <a:t>11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269480" y="4361688"/>
            <a:ext cx="18288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50" b="0">
                <a:solidFill>
                  <a:srgbClr val="333D4A"/>
                </a:solidFill>
                <a:latin typeface="Calibri"/>
              </a:rPr>
              <a:t>N148/18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098280" y="4361688"/>
            <a:ext cx="9144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1050" b="0">
                <a:solidFill>
                  <a:srgbClr val="333D4A"/>
                </a:solidFill>
                <a:latin typeface="Calibri"/>
              </a:rPr>
              <a:t>73.170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012680" y="4361688"/>
            <a:ext cx="73152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1050" b="0">
                <a:solidFill>
                  <a:srgbClr val="333D4A"/>
                </a:solidFill>
                <a:latin typeface="Calibri"/>
              </a:rPr>
              <a:t>13,17 %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744200" y="4361688"/>
            <a:ext cx="64008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1050" b="0">
                <a:solidFill>
                  <a:srgbClr val="333D4A"/>
                </a:solidFill>
                <a:latin typeface="Calibri"/>
              </a:rPr>
              <a:t>395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84280" y="4361688"/>
            <a:ext cx="4572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1050" b="0">
                <a:solidFill>
                  <a:srgbClr val="333D4A"/>
                </a:solidFill>
                <a:latin typeface="Calibri"/>
              </a:rPr>
              <a:t>11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269480" y="4782312"/>
            <a:ext cx="18288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50" b="0">
                <a:solidFill>
                  <a:srgbClr val="333D4A"/>
                </a:solidFill>
                <a:latin typeface="Calibri"/>
              </a:rPr>
              <a:t>F424/40 MARROM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098280" y="4782312"/>
            <a:ext cx="9144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1050" b="0">
                <a:solidFill>
                  <a:srgbClr val="333D4A"/>
                </a:solidFill>
                <a:latin typeface="Calibri"/>
              </a:rPr>
              <a:t>71.883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012680" y="4782312"/>
            <a:ext cx="73152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1050" b="0">
                <a:solidFill>
                  <a:srgbClr val="333D4A"/>
                </a:solidFill>
                <a:latin typeface="Calibri"/>
              </a:rPr>
              <a:t>12,94 %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744200" y="4782312"/>
            <a:ext cx="64008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1050" b="0">
                <a:solidFill>
                  <a:srgbClr val="333D4A"/>
                </a:solidFill>
                <a:latin typeface="Calibri"/>
              </a:rPr>
              <a:t>936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1384280" y="4782312"/>
            <a:ext cx="4572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1050" b="0">
                <a:solidFill>
                  <a:srgbClr val="333D4A"/>
                </a:solidFill>
                <a:latin typeface="Calibri"/>
              </a:rPr>
              <a:t>11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269480" y="5202936"/>
            <a:ext cx="18288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50" b="0">
                <a:solidFill>
                  <a:srgbClr val="333D4A"/>
                </a:solidFill>
                <a:latin typeface="Calibri"/>
              </a:rPr>
              <a:t>N-142/67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098280" y="5202936"/>
            <a:ext cx="9144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1050" b="0">
                <a:solidFill>
                  <a:srgbClr val="333D4A"/>
                </a:solidFill>
                <a:latin typeface="Calibri"/>
              </a:rPr>
              <a:t>62.439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012680" y="5202936"/>
            <a:ext cx="73152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1050" b="0">
                <a:solidFill>
                  <a:srgbClr val="333D4A"/>
                </a:solidFill>
                <a:latin typeface="Calibri"/>
              </a:rPr>
              <a:t>11,24 %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744200" y="5202936"/>
            <a:ext cx="64008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1050" b="0">
                <a:solidFill>
                  <a:srgbClr val="333D4A"/>
                </a:solidFill>
                <a:latin typeface="Calibri"/>
              </a:rPr>
              <a:t>387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1384280" y="5202936"/>
            <a:ext cx="4572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1050" b="0">
                <a:solidFill>
                  <a:srgbClr val="333D4A"/>
                </a:solidFill>
                <a:latin typeface="Calibri"/>
              </a:rPr>
              <a:t>10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269480" y="5623560"/>
            <a:ext cx="18288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50" b="0">
                <a:solidFill>
                  <a:srgbClr val="333D4A"/>
                </a:solidFill>
                <a:latin typeface="Calibri"/>
              </a:rPr>
              <a:t>MASSA F403/32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098280" y="5623560"/>
            <a:ext cx="9144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1050" b="0">
                <a:solidFill>
                  <a:srgbClr val="333D4A"/>
                </a:solidFill>
                <a:latin typeface="Calibri"/>
              </a:rPr>
              <a:t>25.751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0012680" y="5623560"/>
            <a:ext cx="73152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1050" b="0">
                <a:solidFill>
                  <a:srgbClr val="333D4A"/>
                </a:solidFill>
                <a:latin typeface="Calibri"/>
              </a:rPr>
              <a:t>4,63 %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0744200" y="5623560"/>
            <a:ext cx="64008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1050" b="0">
                <a:solidFill>
                  <a:srgbClr val="333D4A"/>
                </a:solidFill>
                <a:latin typeface="Calibri"/>
              </a:rPr>
              <a:t>282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1384280" y="5623560"/>
            <a:ext cx="4572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1050" b="0">
                <a:solidFill>
                  <a:srgbClr val="333D4A"/>
                </a:solidFill>
                <a:latin typeface="Calibri"/>
              </a:rPr>
              <a:t>9</a:t>
            </a:r>
          </a:p>
        </p:txBody>
      </p:sp>
      <p:sp>
        <p:nvSpPr>
          <p:cNvPr id="55" name="Rectangle 54"/>
          <p:cNvSpPr/>
          <p:nvPr/>
        </p:nvSpPr>
        <p:spPr>
          <a:xfrm>
            <a:off x="0" y="6446520"/>
            <a:ext cx="12191695" cy="15000"/>
          </a:xfrm>
          <a:prstGeom prst="rect">
            <a:avLst/>
          </a:prstGeom>
          <a:solidFill>
            <a:srgbClr val="D0D7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56" name="TextBox 55"/>
          <p:cNvSpPr txBox="1"/>
          <p:nvPr/>
        </p:nvSpPr>
        <p:spPr>
          <a:xfrm>
            <a:off x="457200" y="6510528"/>
            <a:ext cx="7315200" cy="3200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100" b="0">
                <a:solidFill>
                  <a:srgbClr val="6B7785"/>
                </a:solidFill>
                <a:latin typeface="Calibri"/>
              </a:rPr>
              <a:t>Relatório Mensal — Componente IJ-117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772400" y="6510528"/>
            <a:ext cx="4114800" cy="3200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r"/>
            <a:r>
              <a:rPr sz="1100" b="0">
                <a:solidFill>
                  <a:srgbClr val="6B7785"/>
                </a:solidFill>
                <a:latin typeface="Calibri"/>
              </a:rPr>
              <a:t>Mai/2024 → Mar/2026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749808"/>
            <a:ext cx="12191695" cy="28000"/>
          </a:xfrm>
          <a:prstGeom prst="rect">
            <a:avLst/>
          </a:prstGeom>
          <a:solidFill>
            <a:srgbClr val="E53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9601200" cy="5486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2600" b="1">
                <a:solidFill>
                  <a:srgbClr val="1F2D3D"/>
                </a:solidFill>
                <a:latin typeface="Calibri"/>
              </a:rPr>
              <a:t>Controle de Qualidade — Taxa de Refugo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0" y="137160"/>
            <a:ext cx="1828800" cy="5486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r"/>
            <a:r>
              <a:rPr sz="1800" b="1">
                <a:solidFill>
                  <a:srgbClr val="E53E5A"/>
                </a:solidFill>
                <a:latin typeface="Calibri"/>
              </a:rPr>
              <a:t>IJ-117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1005840"/>
            <a:ext cx="6675120" cy="5349240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9525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548640" y="1097280"/>
            <a:ext cx="630936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600" b="1">
                <a:solidFill>
                  <a:srgbClr val="1F2D3D"/>
                </a:solidFill>
                <a:latin typeface="Calibri"/>
              </a:rPr>
              <a:t>Refugo por Composto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508760"/>
            <a:ext cx="6492240" cy="475488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7178040" y="1005840"/>
            <a:ext cx="4663440" cy="2194560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9525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7178040" y="1143000"/>
            <a:ext cx="466344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3400" b="1">
                <a:solidFill>
                  <a:srgbClr val="2CA57E"/>
                </a:solidFill>
                <a:latin typeface="Calibri"/>
              </a:rPr>
              <a:t>1,88 %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78040" y="1783080"/>
            <a:ext cx="466344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300" b="1">
                <a:solidFill>
                  <a:srgbClr val="1F2D3D"/>
                </a:solidFill>
                <a:latin typeface="Calibri"/>
              </a:rPr>
              <a:t>Taxa de Refugo Global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269480" y="2194560"/>
            <a:ext cx="219456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800" b="1">
                <a:solidFill>
                  <a:srgbClr val="E53E5A"/>
                </a:solidFill>
                <a:latin typeface="Calibri"/>
              </a:rPr>
              <a:t>10.440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69480" y="2542032"/>
            <a:ext cx="219456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000" b="0">
                <a:solidFill>
                  <a:srgbClr val="6B7785"/>
                </a:solidFill>
                <a:latin typeface="Calibri"/>
              </a:rPr>
              <a:t>Peças refugadas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509760" y="2194560"/>
            <a:ext cx="219456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800" b="1">
                <a:solidFill>
                  <a:srgbClr val="F1A13C"/>
                </a:solidFill>
                <a:latin typeface="Calibri"/>
              </a:rPr>
              <a:t>555.603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509760" y="2542032"/>
            <a:ext cx="219456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000" b="0">
                <a:solidFill>
                  <a:srgbClr val="6B7785"/>
                </a:solidFill>
                <a:latin typeface="Calibri"/>
              </a:rPr>
              <a:t>Total produzido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72400" y="2834640"/>
            <a:ext cx="3474720" cy="292608"/>
          </a:xfrm>
          <a:prstGeom prst="roundRect">
            <a:avLst>
              <a:gd name="adj" fmla="val 8000"/>
            </a:avLst>
          </a:prstGeom>
          <a:solidFill>
            <a:srgbClr val="E7F6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7772400" y="2834640"/>
            <a:ext cx="3474720" cy="292608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100" b="1">
                <a:solidFill>
                  <a:srgbClr val="2CA57E"/>
                </a:solidFill>
                <a:latin typeface="Calibri"/>
              </a:rPr>
              <a:t>Dentro do limite aceitável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178040" y="3337560"/>
            <a:ext cx="4663440" cy="3017520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9525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7315200" y="3429000"/>
            <a:ext cx="438912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400" b="1">
                <a:solidFill>
                  <a:srgbClr val="1F2D3D"/>
                </a:solidFill>
                <a:latin typeface="Calibri"/>
              </a:rPr>
              <a:t>Análise de Qualidade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0" y="3840480"/>
            <a:ext cx="274320" cy="4114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200" b="0">
                <a:solidFill>
                  <a:srgbClr val="E53E5A"/>
                </a:solidFill>
                <a:latin typeface="Calibri"/>
              </a:rPr>
              <a:t>●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589520" y="3840480"/>
            <a:ext cx="411480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50" b="0">
                <a:solidFill>
                  <a:srgbClr val="333D4A"/>
                </a:solidFill>
                <a:latin typeface="Calibri"/>
              </a:rPr>
              <a:t>P250/14: maior volume de refugo absoluto (3.996 peças)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0" y="4434840"/>
            <a:ext cx="274320" cy="4114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200" b="0">
                <a:solidFill>
                  <a:srgbClr val="2CA57E"/>
                </a:solidFill>
                <a:latin typeface="Calibri"/>
              </a:rPr>
              <a:t>●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589520" y="4434840"/>
            <a:ext cx="411480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50" b="0">
                <a:solidFill>
                  <a:srgbClr val="333D4A"/>
                </a:solidFill>
                <a:latin typeface="Calibri"/>
              </a:rPr>
              <a:t>P248/40: zero refugo registrado em 1 mês(es) de uso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0" y="5029200"/>
            <a:ext cx="274320" cy="4114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200" b="0">
                <a:solidFill>
                  <a:srgbClr val="2CA57E"/>
                </a:solidFill>
                <a:latin typeface="Calibri"/>
              </a:rPr>
              <a:t>✓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589520" y="5029200"/>
            <a:ext cx="411480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50" b="0">
                <a:solidFill>
                  <a:srgbClr val="333D4A"/>
                </a:solidFill>
                <a:latin typeface="Calibri"/>
              </a:rPr>
              <a:t>Taxa mensal estável — sem pico de rejeição significativo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15200" y="5623560"/>
            <a:ext cx="274320" cy="4114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200" b="0">
                <a:solidFill>
                  <a:srgbClr val="F1A13C"/>
                </a:solidFill>
                <a:latin typeface="Calibri"/>
              </a:rPr>
              <a:t>●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589520" y="5623560"/>
            <a:ext cx="411480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50" b="0">
                <a:solidFill>
                  <a:srgbClr val="333D4A"/>
                </a:solidFill>
                <a:latin typeface="Calibri"/>
              </a:rPr>
              <a:t>Refugo geral próximo do limite — monitorar tendência</a:t>
            </a:r>
          </a:p>
        </p:txBody>
      </p:sp>
      <p:sp>
        <p:nvSpPr>
          <p:cNvPr id="28" name="Rectangle 27"/>
          <p:cNvSpPr/>
          <p:nvPr/>
        </p:nvSpPr>
        <p:spPr>
          <a:xfrm>
            <a:off x="0" y="6446520"/>
            <a:ext cx="12191695" cy="15000"/>
          </a:xfrm>
          <a:prstGeom prst="rect">
            <a:avLst/>
          </a:prstGeom>
          <a:solidFill>
            <a:srgbClr val="D0D7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457200" y="6510528"/>
            <a:ext cx="7315200" cy="3200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100" b="0">
                <a:solidFill>
                  <a:srgbClr val="6B7785"/>
                </a:solidFill>
                <a:latin typeface="Calibri"/>
              </a:rPr>
              <a:t>Relatório Mensal — Componente IJ-117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72400" y="6510528"/>
            <a:ext cx="4114800" cy="3200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r"/>
            <a:r>
              <a:rPr sz="1100" b="0">
                <a:solidFill>
                  <a:srgbClr val="6B7785"/>
                </a:solidFill>
                <a:latin typeface="Calibri"/>
              </a:rPr>
              <a:t>Mai/2024 → Mar/2026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749808"/>
            <a:ext cx="12191695" cy="28000"/>
          </a:xfrm>
          <a:prstGeom prst="rect">
            <a:avLst/>
          </a:prstGeom>
          <a:solidFill>
            <a:srgbClr val="E53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9601200" cy="5486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2600" b="1">
                <a:solidFill>
                  <a:srgbClr val="1F2D3D"/>
                </a:solidFill>
                <a:latin typeface="Calibri"/>
              </a:rPr>
              <a:t>Estratégia de Manutenção Preventiva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0" y="137160"/>
            <a:ext cx="1828800" cy="5486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r"/>
            <a:r>
              <a:rPr sz="1800" b="1">
                <a:solidFill>
                  <a:srgbClr val="E53E5A"/>
                </a:solidFill>
                <a:latin typeface="Calibri"/>
              </a:rPr>
              <a:t>IJ-117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1005840"/>
            <a:ext cx="7589520" cy="2103120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9525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548640" y="1097280"/>
            <a:ext cx="73152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500" b="1">
                <a:solidFill>
                  <a:srgbClr val="1F2D3D"/>
                </a:solidFill>
                <a:latin typeface="Calibri"/>
              </a:rPr>
              <a:t>Histórico de Manutenções RM.195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417320"/>
            <a:ext cx="7406640" cy="169164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8092440" y="1005840"/>
            <a:ext cx="3749039" cy="2743200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9525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10" name="Rounded Rectangle 9"/>
          <p:cNvSpPr/>
          <p:nvPr/>
        </p:nvSpPr>
        <p:spPr>
          <a:xfrm>
            <a:off x="8778240" y="1143000"/>
            <a:ext cx="2377440" cy="384048"/>
          </a:xfrm>
          <a:prstGeom prst="roundRect">
            <a:avLst>
              <a:gd name="adj" fmla="val 8000"/>
            </a:avLst>
          </a:prstGeom>
          <a:solidFill>
            <a:srgbClr val="E7F6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8778240" y="1143000"/>
            <a:ext cx="2377440" cy="384048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200" b="1">
                <a:solidFill>
                  <a:srgbClr val="2CA57E"/>
                </a:solidFill>
                <a:latin typeface="Calibri"/>
              </a:rPr>
              <a:t>✓ OK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92440" y="1691640"/>
            <a:ext cx="3749039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3600" b="1">
                <a:solidFill>
                  <a:srgbClr val="2CA57E"/>
                </a:solidFill>
                <a:latin typeface="Calibri"/>
              </a:rPr>
              <a:t>361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92440" y="2331720"/>
            <a:ext cx="3749039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100" b="0">
                <a:solidFill>
                  <a:srgbClr val="6B7785"/>
                </a:solidFill>
                <a:latin typeface="Calibri"/>
              </a:rPr>
              <a:t>dias restantes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92440" y="2697480"/>
            <a:ext cx="3749039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600" b="1">
                <a:solidFill>
                  <a:srgbClr val="1F2D3D"/>
                </a:solidFill>
                <a:latin typeface="Calibri"/>
              </a:rPr>
              <a:t>23/04/2027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92440" y="3063240"/>
            <a:ext cx="3749039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000" b="0">
                <a:solidFill>
                  <a:srgbClr val="6B7785"/>
                </a:solidFill>
                <a:latin typeface="Calibri"/>
              </a:rPr>
              <a:t>Próxima manutenção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92440" y="3337560"/>
            <a:ext cx="3749039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000" b="0">
                <a:solidFill>
                  <a:srgbClr val="6B7785"/>
                </a:solidFill>
                <a:latin typeface="Calibri"/>
              </a:rPr>
              <a:t>Última troca: 20/06/2025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65760" y="3246120"/>
            <a:ext cx="7589520" cy="3108960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9525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502920" y="3383280"/>
            <a:ext cx="182880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1">
                <a:solidFill>
                  <a:srgbClr val="E53E5A"/>
                </a:solidFill>
                <a:latin typeface="Calibri"/>
              </a:rPr>
              <a:t>Componente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331720" y="3383280"/>
            <a:ext cx="128016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1">
                <a:solidFill>
                  <a:srgbClr val="E53E5A"/>
                </a:solidFill>
                <a:latin typeface="Calibri"/>
              </a:rPr>
              <a:t>Valor Atual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0" y="3383280"/>
            <a:ext cx="146304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1">
                <a:solidFill>
                  <a:srgbClr val="E53E5A"/>
                </a:solidFill>
                <a:latin typeface="Calibri"/>
              </a:rPr>
              <a:t>Referência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120640" y="3383280"/>
            <a:ext cx="73152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1">
                <a:solidFill>
                  <a:srgbClr val="E53E5A"/>
                </a:solidFill>
                <a:latin typeface="Calibri"/>
              </a:rPr>
              <a:t>Fator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852160" y="3383280"/>
            <a:ext cx="201168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1">
                <a:solidFill>
                  <a:srgbClr val="E53E5A"/>
                </a:solidFill>
                <a:latin typeface="Calibri"/>
              </a:rPr>
              <a:t>Efeito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02920" y="3703320"/>
            <a:ext cx="7315200" cy="8000"/>
          </a:xfrm>
          <a:prstGeom prst="rect">
            <a:avLst/>
          </a:prstGeom>
          <a:solidFill>
            <a:srgbClr val="D0D7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502920" y="3794760"/>
            <a:ext cx="1828800" cy="4572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333D4A"/>
                </a:solidFill>
                <a:latin typeface="Calibri"/>
              </a:rPr>
              <a:t>T_base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331720" y="3794760"/>
            <a:ext cx="1280160" cy="4572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333D4A"/>
                </a:solidFill>
                <a:latin typeface="Calibri"/>
              </a:rPr>
              <a:t>496,0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57600" y="3794760"/>
            <a:ext cx="1463040" cy="4572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333D4A"/>
                </a:solidFill>
                <a:latin typeface="Calibri"/>
              </a:rPr>
              <a:t>Mediana histórica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120640" y="3794760"/>
            <a:ext cx="731520" cy="4572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333D4A"/>
                </a:solidFill>
                <a:latin typeface="Calibri"/>
              </a:rPr>
              <a:t>—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852160" y="3794760"/>
            <a:ext cx="2011680" cy="4572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333D4A"/>
                </a:solidFill>
                <a:latin typeface="Calibri"/>
              </a:rPr>
              <a:t>Ponto de partida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02920" y="4297680"/>
            <a:ext cx="1828800" cy="4572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333D4A"/>
                </a:solidFill>
                <a:latin typeface="Calibri"/>
              </a:rPr>
              <a:t>Ampl. cil./fuso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331720" y="4297680"/>
            <a:ext cx="1280160" cy="4572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333D4A"/>
                </a:solidFill>
                <a:latin typeface="Calibri"/>
              </a:rPr>
              <a:t>cil. 0,450 / fuso —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657600" y="4297680"/>
            <a:ext cx="1463040" cy="4572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333D4A"/>
                </a:solidFill>
                <a:latin typeface="Calibri"/>
              </a:rPr>
              <a:t>—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120640" y="4297680"/>
            <a:ext cx="731520" cy="4572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333D4A"/>
                </a:solidFill>
                <a:latin typeface="Calibri"/>
              </a:rPr>
              <a:t>1,0000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852160" y="4297680"/>
            <a:ext cx="2011680" cy="4572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333D4A"/>
                </a:solidFill>
                <a:latin typeface="Calibri"/>
              </a:rPr>
              <a:t>Fator neutro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02920" y="4800600"/>
            <a:ext cx="1828800" cy="4572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333D4A"/>
                </a:solidFill>
                <a:latin typeface="Calibri"/>
              </a:rPr>
              <a:t>Massa pós-troca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331720" y="4800600"/>
            <a:ext cx="1280160" cy="4572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333D4A"/>
                </a:solidFill>
                <a:latin typeface="Calibri"/>
              </a:rPr>
              <a:t>2.736,71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657600" y="4800600"/>
            <a:ext cx="1463040" cy="4572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333D4A"/>
                </a:solidFill>
                <a:latin typeface="Calibri"/>
              </a:rPr>
              <a:t>mediana janelas anteriores: 4.075,29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120640" y="4800600"/>
            <a:ext cx="731520" cy="4572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333D4A"/>
                </a:solidFill>
                <a:latin typeface="Calibri"/>
              </a:rPr>
              <a:t>1,3000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852160" y="4800600"/>
            <a:ext cx="2011680" cy="4572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333D4A"/>
                </a:solidFill>
                <a:latin typeface="Calibri"/>
              </a:rPr>
              <a:t>consumiu **0,67×** a massa típica → adia a próxima troca (×1,300)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02920" y="5303520"/>
            <a:ext cx="1828800" cy="4572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333D4A"/>
                </a:solidFill>
                <a:latin typeface="Calibri"/>
              </a:rPr>
              <a:t>Ociosidade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331720" y="5303520"/>
            <a:ext cx="1280160" cy="4572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333D4A"/>
                </a:solidFill>
                <a:latin typeface="Calibri"/>
              </a:rPr>
              <a:t>27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657600" y="5303520"/>
            <a:ext cx="1463040" cy="4572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333D4A"/>
                </a:solidFill>
                <a:latin typeface="Calibri"/>
              </a:rPr>
              <a:t>Últ. prod. → hoje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120640" y="5303520"/>
            <a:ext cx="731520" cy="4572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333D4A"/>
                </a:solidFill>
                <a:latin typeface="Calibri"/>
              </a:rPr>
              <a:t>—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852160" y="5303520"/>
            <a:ext cx="2011680" cy="4572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333D4A"/>
                </a:solidFill>
                <a:latin typeface="Calibri"/>
              </a:rPr>
              <a:t>Desliza data p/ frente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411480" y="5760720"/>
            <a:ext cx="7498079" cy="502920"/>
          </a:xfrm>
          <a:prstGeom prst="roundRect">
            <a:avLst>
              <a:gd name="adj" fmla="val 8000"/>
            </a:avLst>
          </a:prstGeom>
          <a:solidFill>
            <a:srgbClr val="FCEC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45" name="TextBox 44"/>
          <p:cNvSpPr txBox="1"/>
          <p:nvPr/>
        </p:nvSpPr>
        <p:spPr>
          <a:xfrm>
            <a:off x="502920" y="5806440"/>
            <a:ext cx="1828800" cy="4572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1">
                <a:solidFill>
                  <a:srgbClr val="E53E5A"/>
                </a:solidFill>
                <a:latin typeface="Calibri"/>
              </a:rPr>
              <a:t>T_prescrito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2331720" y="5806440"/>
            <a:ext cx="1280160" cy="4572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1">
                <a:solidFill>
                  <a:srgbClr val="E53E5A"/>
                </a:solidFill>
                <a:latin typeface="Calibri"/>
              </a:rPr>
              <a:t>644,8 dias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657600" y="5806440"/>
            <a:ext cx="1463040" cy="4572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1">
                <a:solidFill>
                  <a:srgbClr val="E53E5A"/>
                </a:solidFill>
                <a:latin typeface="Calibri"/>
              </a:rPr>
              <a:t>496,0 × 1,0000 × 1,3000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120640" y="5806440"/>
            <a:ext cx="731520" cy="4572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1">
                <a:solidFill>
                  <a:srgbClr val="E53E5A"/>
                </a:solidFill>
                <a:latin typeface="Calibri"/>
              </a:rPr>
              <a:t>—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852160" y="5806440"/>
            <a:ext cx="2011680" cy="4572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1">
                <a:solidFill>
                  <a:srgbClr val="E53E5A"/>
                </a:solidFill>
                <a:latin typeface="Calibri"/>
              </a:rPr>
              <a:t>Data: 23/04/2027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8092440" y="3886200"/>
            <a:ext cx="3749039" cy="2468880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9525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51" name="TextBox 50"/>
          <p:cNvSpPr txBox="1"/>
          <p:nvPr/>
        </p:nvSpPr>
        <p:spPr>
          <a:xfrm>
            <a:off x="8229600" y="3977639"/>
            <a:ext cx="347472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300" b="1">
                <a:solidFill>
                  <a:srgbClr val="1F2D3D"/>
                </a:solidFill>
                <a:latin typeface="Calibri"/>
              </a:rPr>
              <a:t>Níveis de Urgência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8229600" y="4434840"/>
            <a:ext cx="1417320" cy="320040"/>
          </a:xfrm>
          <a:prstGeom prst="roundRect">
            <a:avLst>
              <a:gd name="adj" fmla="val 8000"/>
            </a:avLst>
          </a:prstGeom>
          <a:solidFill>
            <a:srgbClr val="FBE2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53" name="TextBox 52"/>
          <p:cNvSpPr txBox="1"/>
          <p:nvPr/>
        </p:nvSpPr>
        <p:spPr>
          <a:xfrm>
            <a:off x="8229600" y="4434840"/>
            <a:ext cx="1417320" cy="3200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000" b="1">
                <a:solidFill>
                  <a:srgbClr val="E53E5A"/>
                </a:solidFill>
                <a:latin typeface="Calibri"/>
              </a:rPr>
              <a:t>ATRASADO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784080" y="4434840"/>
            <a:ext cx="1920240" cy="3200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000" b="0">
                <a:solidFill>
                  <a:srgbClr val="333D4A"/>
                </a:solidFill>
                <a:latin typeface="Calibri"/>
              </a:rPr>
              <a:t>&lt; 0 dias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8229600" y="4846320"/>
            <a:ext cx="1417320" cy="320040"/>
          </a:xfrm>
          <a:prstGeom prst="roundRect">
            <a:avLst>
              <a:gd name="adj" fmla="val 8000"/>
            </a:avLst>
          </a:prstGeom>
          <a:solidFill>
            <a:srgbClr val="FCF0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56" name="TextBox 55"/>
          <p:cNvSpPr txBox="1"/>
          <p:nvPr/>
        </p:nvSpPr>
        <p:spPr>
          <a:xfrm>
            <a:off x="8229600" y="4846320"/>
            <a:ext cx="1417320" cy="3200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000" b="1">
                <a:solidFill>
                  <a:srgbClr val="F1A13C"/>
                </a:solidFill>
                <a:latin typeface="Calibri"/>
              </a:rPr>
              <a:t>URGENTE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9784080" y="4846320"/>
            <a:ext cx="1920240" cy="3200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000" b="0">
                <a:solidFill>
                  <a:srgbClr val="333D4A"/>
                </a:solidFill>
                <a:latin typeface="Calibri"/>
              </a:rPr>
              <a:t>0 – 29 dias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8229600" y="5257800"/>
            <a:ext cx="1417320" cy="320040"/>
          </a:xfrm>
          <a:prstGeom prst="roundRect">
            <a:avLst>
              <a:gd name="adj" fmla="val 8000"/>
            </a:avLst>
          </a:prstGeom>
          <a:solidFill>
            <a:srgbClr val="FAF5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59" name="TextBox 58"/>
          <p:cNvSpPr txBox="1"/>
          <p:nvPr/>
        </p:nvSpPr>
        <p:spPr>
          <a:xfrm>
            <a:off x="8229600" y="5257800"/>
            <a:ext cx="1417320" cy="3200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000" b="1">
                <a:solidFill>
                  <a:srgbClr val="E3C047"/>
                </a:solidFill>
                <a:latin typeface="Calibri"/>
              </a:rPr>
              <a:t>ATENÇÃO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9784080" y="5257800"/>
            <a:ext cx="1920240" cy="3200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000" b="0">
                <a:solidFill>
                  <a:srgbClr val="333D4A"/>
                </a:solidFill>
                <a:latin typeface="Calibri"/>
              </a:rPr>
              <a:t>30 – 89 dias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8229600" y="5669280"/>
            <a:ext cx="1417320" cy="320040"/>
          </a:xfrm>
          <a:prstGeom prst="roundRect">
            <a:avLst>
              <a:gd name="adj" fmla="val 8000"/>
            </a:avLst>
          </a:prstGeom>
          <a:solidFill>
            <a:srgbClr val="DFF1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62" name="TextBox 61"/>
          <p:cNvSpPr txBox="1"/>
          <p:nvPr/>
        </p:nvSpPr>
        <p:spPr>
          <a:xfrm>
            <a:off x="8229600" y="5669280"/>
            <a:ext cx="1417320" cy="3200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000" b="1">
                <a:solidFill>
                  <a:srgbClr val="2CA57E"/>
                </a:solidFill>
                <a:latin typeface="Calibri"/>
              </a:rPr>
              <a:t>✓ OK — ATUAL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9784080" y="5669280"/>
            <a:ext cx="1920240" cy="3200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000" b="0">
                <a:solidFill>
                  <a:srgbClr val="333D4A"/>
                </a:solidFill>
                <a:latin typeface="Calibri"/>
              </a:rPr>
              <a:t>≥ 90 dias</a:t>
            </a:r>
          </a:p>
        </p:txBody>
      </p:sp>
      <p:sp>
        <p:nvSpPr>
          <p:cNvPr id="64" name="Rectangle 63"/>
          <p:cNvSpPr/>
          <p:nvPr/>
        </p:nvSpPr>
        <p:spPr>
          <a:xfrm>
            <a:off x="0" y="6446520"/>
            <a:ext cx="12191695" cy="15000"/>
          </a:xfrm>
          <a:prstGeom prst="rect">
            <a:avLst/>
          </a:prstGeom>
          <a:solidFill>
            <a:srgbClr val="D0D7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65" name="TextBox 64"/>
          <p:cNvSpPr txBox="1"/>
          <p:nvPr/>
        </p:nvSpPr>
        <p:spPr>
          <a:xfrm>
            <a:off x="457200" y="6510528"/>
            <a:ext cx="7315200" cy="3200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100" b="0">
                <a:solidFill>
                  <a:srgbClr val="6B7785"/>
                </a:solidFill>
                <a:latin typeface="Calibri"/>
              </a:rPr>
              <a:t>Relatório Mensal — Componente IJ-117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7772400" y="6510528"/>
            <a:ext cx="4114800" cy="3200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r"/>
            <a:r>
              <a:rPr sz="1100" b="0">
                <a:solidFill>
                  <a:srgbClr val="6B7785"/>
                </a:solidFill>
                <a:latin typeface="Calibri"/>
              </a:rPr>
              <a:t>Referência: 27/04/2026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749808"/>
            <a:ext cx="12191695" cy="28000"/>
          </a:xfrm>
          <a:prstGeom prst="rect">
            <a:avLst/>
          </a:prstGeom>
          <a:solidFill>
            <a:srgbClr val="E53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9601200" cy="5486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2600" b="1">
                <a:solidFill>
                  <a:srgbClr val="1F2D3D"/>
                </a:solidFill>
                <a:latin typeface="Calibri"/>
              </a:rPr>
              <a:t>Conclusões e Insights Operacionais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0" y="137160"/>
            <a:ext cx="1828800" cy="5486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r"/>
            <a:r>
              <a:rPr sz="1800" b="1">
                <a:solidFill>
                  <a:srgbClr val="E53E5A"/>
                </a:solidFill>
                <a:latin typeface="Calibri"/>
              </a:rPr>
              <a:t>IJ-117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005840"/>
            <a:ext cx="6858000" cy="4114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500" b="1">
                <a:solidFill>
                  <a:srgbClr val="1F2D3D"/>
                </a:solidFill>
                <a:latin typeface="Calibri"/>
              </a:rPr>
              <a:t>Principais Conclusões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1508760"/>
            <a:ext cx="6858000" cy="1051560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9525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8" name="Rectangle 7"/>
          <p:cNvSpPr/>
          <p:nvPr/>
        </p:nvSpPr>
        <p:spPr>
          <a:xfrm>
            <a:off x="365760" y="1508760"/>
            <a:ext cx="50000" cy="1051560"/>
          </a:xfrm>
          <a:prstGeom prst="rect">
            <a:avLst/>
          </a:prstGeom>
          <a:solidFill>
            <a:srgbClr val="2C6E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594360" y="1645920"/>
            <a:ext cx="64008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300" b="1">
                <a:solidFill>
                  <a:srgbClr val="1F2D3D"/>
                </a:solidFill>
                <a:latin typeface="Calibri"/>
              </a:rPr>
              <a:t>Produção Consistente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011680"/>
            <a:ext cx="6400800" cy="5029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0">
                <a:solidFill>
                  <a:srgbClr val="333D4A"/>
                </a:solidFill>
                <a:latin typeface="Calibri"/>
              </a:rPr>
              <a:t>555.603 peças em 23 meses com pico histórico de 59.226 em Abr/2025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65760" y="2651760"/>
            <a:ext cx="6858000" cy="1051560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9525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12" name="Rectangle 11"/>
          <p:cNvSpPr/>
          <p:nvPr/>
        </p:nvSpPr>
        <p:spPr>
          <a:xfrm>
            <a:off x="365760" y="2651760"/>
            <a:ext cx="50000" cy="1051560"/>
          </a:xfrm>
          <a:prstGeom prst="rect">
            <a:avLst/>
          </a:prstGeom>
          <a:solidFill>
            <a:srgbClr val="E53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594360" y="2788920"/>
            <a:ext cx="64008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300" b="1">
                <a:solidFill>
                  <a:srgbClr val="1F2D3D"/>
                </a:solidFill>
                <a:latin typeface="Calibri"/>
              </a:rPr>
              <a:t>Dominância do P250/14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3154680"/>
            <a:ext cx="6400800" cy="5029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0">
                <a:solidFill>
                  <a:srgbClr val="333D4A"/>
                </a:solidFill>
                <a:latin typeface="Calibri"/>
              </a:rPr>
              <a:t>26,15 % da produção — composto principal por 17 meses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65760" y="3794760"/>
            <a:ext cx="6858000" cy="1051560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9525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16" name="Rectangle 15"/>
          <p:cNvSpPr/>
          <p:nvPr/>
        </p:nvSpPr>
        <p:spPr>
          <a:xfrm>
            <a:off x="365760" y="3794760"/>
            <a:ext cx="50000" cy="1051560"/>
          </a:xfrm>
          <a:prstGeom prst="rect">
            <a:avLst/>
          </a:prstGeom>
          <a:solidFill>
            <a:srgbClr val="2CA5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594360" y="3931920"/>
            <a:ext cx="64008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300" b="1">
                <a:solidFill>
                  <a:srgbClr val="1F2D3D"/>
                </a:solidFill>
                <a:latin typeface="Calibri"/>
              </a:rPr>
              <a:t>Qualidade Controlada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" y="4297680"/>
            <a:ext cx="6400800" cy="5029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0">
                <a:solidFill>
                  <a:srgbClr val="333D4A"/>
                </a:solidFill>
                <a:latin typeface="Calibri"/>
              </a:rPr>
              <a:t>Taxa de refugo de apenas 1,88 % — desempenho estável em todo o período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65760" y="4937760"/>
            <a:ext cx="6858000" cy="1051560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9525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20" name="Rectangle 19"/>
          <p:cNvSpPr/>
          <p:nvPr/>
        </p:nvSpPr>
        <p:spPr>
          <a:xfrm>
            <a:off x="365760" y="4937760"/>
            <a:ext cx="50000" cy="1051560"/>
          </a:xfrm>
          <a:prstGeom prst="rect">
            <a:avLst/>
          </a:prstGeom>
          <a:solidFill>
            <a:srgbClr val="F1A1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594360" y="5074920"/>
            <a:ext cx="64008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300" b="1">
                <a:solidFill>
                  <a:srgbClr val="1F2D3D"/>
                </a:solidFill>
                <a:latin typeface="Calibri"/>
              </a:rPr>
              <a:t>Manutenção Planejada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" y="5440680"/>
            <a:ext cx="6400800" cy="5029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0">
                <a:solidFill>
                  <a:srgbClr val="333D4A"/>
                </a:solidFill>
                <a:latin typeface="Calibri"/>
              </a:rPr>
              <a:t>Próxima intervenção prevista para 23/04/2027 — 361 dias de folga operacional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406640" y="1005840"/>
            <a:ext cx="4434840" cy="5394960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9525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7589520" y="1097280"/>
            <a:ext cx="4160520" cy="4572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600" b="1">
                <a:solidFill>
                  <a:srgbClr val="1F2D3D"/>
                </a:solidFill>
                <a:latin typeface="Calibri"/>
              </a:rPr>
              <a:t>Scorecard Operacional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589520" y="1691640"/>
            <a:ext cx="219456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0">
                <a:solidFill>
                  <a:srgbClr val="333D4A"/>
                </a:solidFill>
                <a:latin typeface="Calibri"/>
              </a:rPr>
              <a:t>Volume Total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784080" y="1691640"/>
            <a:ext cx="18288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1100" b="1">
                <a:solidFill>
                  <a:srgbClr val="1F2D3D"/>
                </a:solidFill>
                <a:latin typeface="Calibri"/>
              </a:rPr>
              <a:t>555.603 peças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1658600" y="1810512"/>
            <a:ext cx="118872" cy="118872"/>
          </a:xfrm>
          <a:prstGeom prst="roundRect">
            <a:avLst>
              <a:gd name="adj" fmla="val 8000"/>
            </a:avLst>
          </a:prstGeom>
          <a:solidFill>
            <a:srgbClr val="2CA5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28" name="Rectangle 27"/>
          <p:cNvSpPr/>
          <p:nvPr/>
        </p:nvSpPr>
        <p:spPr>
          <a:xfrm>
            <a:off x="7589520" y="2103120"/>
            <a:ext cx="4160520" cy="4000"/>
          </a:xfrm>
          <a:prstGeom prst="rect">
            <a:avLst/>
          </a:prstGeom>
          <a:solidFill>
            <a:srgbClr val="D0D7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7589520" y="2194560"/>
            <a:ext cx="219456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0">
                <a:solidFill>
                  <a:srgbClr val="333D4A"/>
                </a:solidFill>
                <a:latin typeface="Calibri"/>
              </a:rPr>
              <a:t>Período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784080" y="2194560"/>
            <a:ext cx="18288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1100" b="1">
                <a:solidFill>
                  <a:srgbClr val="1F2D3D"/>
                </a:solidFill>
                <a:latin typeface="Calibri"/>
              </a:rPr>
              <a:t>23 meses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11658600" y="2313432"/>
            <a:ext cx="118872" cy="118872"/>
          </a:xfrm>
          <a:prstGeom prst="roundRect">
            <a:avLst>
              <a:gd name="adj" fmla="val 8000"/>
            </a:avLst>
          </a:prstGeom>
          <a:solidFill>
            <a:srgbClr val="2CA5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32" name="Rectangle 31"/>
          <p:cNvSpPr/>
          <p:nvPr/>
        </p:nvSpPr>
        <p:spPr>
          <a:xfrm>
            <a:off x="7589520" y="2606040"/>
            <a:ext cx="4160520" cy="4000"/>
          </a:xfrm>
          <a:prstGeom prst="rect">
            <a:avLst/>
          </a:prstGeom>
          <a:solidFill>
            <a:srgbClr val="D0D7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7589520" y="2697480"/>
            <a:ext cx="219456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0">
                <a:solidFill>
                  <a:srgbClr val="333D4A"/>
                </a:solidFill>
                <a:latin typeface="Calibri"/>
              </a:rPr>
              <a:t>Compostos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784080" y="2697480"/>
            <a:ext cx="18288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1100" b="1">
                <a:solidFill>
                  <a:srgbClr val="1F2D3D"/>
                </a:solidFill>
                <a:latin typeface="Calibri"/>
              </a:rPr>
              <a:t>12 tipos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11658600" y="2816352"/>
            <a:ext cx="118872" cy="118872"/>
          </a:xfrm>
          <a:prstGeom prst="roundRect">
            <a:avLst>
              <a:gd name="adj" fmla="val 8000"/>
            </a:avLst>
          </a:prstGeom>
          <a:solidFill>
            <a:srgbClr val="2CA5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36" name="Rectangle 35"/>
          <p:cNvSpPr/>
          <p:nvPr/>
        </p:nvSpPr>
        <p:spPr>
          <a:xfrm>
            <a:off x="7589520" y="3108960"/>
            <a:ext cx="4160520" cy="4000"/>
          </a:xfrm>
          <a:prstGeom prst="rect">
            <a:avLst/>
          </a:prstGeom>
          <a:solidFill>
            <a:srgbClr val="D0D7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37" name="TextBox 36"/>
          <p:cNvSpPr txBox="1"/>
          <p:nvPr/>
        </p:nvSpPr>
        <p:spPr>
          <a:xfrm>
            <a:off x="7589520" y="3200400"/>
            <a:ext cx="219456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0">
                <a:solidFill>
                  <a:srgbClr val="333D4A"/>
                </a:solidFill>
                <a:latin typeface="Calibri"/>
              </a:rPr>
              <a:t>Taxa de Refugo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784080" y="3200400"/>
            <a:ext cx="18288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1100" b="1">
                <a:solidFill>
                  <a:srgbClr val="1F2D3D"/>
                </a:solidFill>
                <a:latin typeface="Calibri"/>
              </a:rPr>
              <a:t>1,88 %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11658600" y="3319272"/>
            <a:ext cx="118872" cy="118872"/>
          </a:xfrm>
          <a:prstGeom prst="roundRect">
            <a:avLst>
              <a:gd name="adj" fmla="val 8000"/>
            </a:avLst>
          </a:prstGeom>
          <a:solidFill>
            <a:srgbClr val="2CA5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40" name="Rectangle 39"/>
          <p:cNvSpPr/>
          <p:nvPr/>
        </p:nvSpPr>
        <p:spPr>
          <a:xfrm>
            <a:off x="7589520" y="3611880"/>
            <a:ext cx="4160520" cy="4000"/>
          </a:xfrm>
          <a:prstGeom prst="rect">
            <a:avLst/>
          </a:prstGeom>
          <a:solidFill>
            <a:srgbClr val="D0D7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41" name="TextBox 40"/>
          <p:cNvSpPr txBox="1"/>
          <p:nvPr/>
        </p:nvSpPr>
        <p:spPr>
          <a:xfrm>
            <a:off x="7589520" y="3703320"/>
            <a:ext cx="219456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0">
                <a:solidFill>
                  <a:srgbClr val="333D4A"/>
                </a:solidFill>
                <a:latin typeface="Calibri"/>
              </a:rPr>
              <a:t>Pico Mensal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784080" y="3703320"/>
            <a:ext cx="18288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1100" b="1">
                <a:solidFill>
                  <a:srgbClr val="1F2D3D"/>
                </a:solidFill>
                <a:latin typeface="Calibri"/>
              </a:rPr>
              <a:t>59.226 peças — Abr/2025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11658600" y="3822192"/>
            <a:ext cx="118872" cy="118872"/>
          </a:xfrm>
          <a:prstGeom prst="roundRect">
            <a:avLst>
              <a:gd name="adj" fmla="val 8000"/>
            </a:avLst>
          </a:prstGeom>
          <a:solidFill>
            <a:srgbClr val="F1A1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44" name="Rectangle 43"/>
          <p:cNvSpPr/>
          <p:nvPr/>
        </p:nvSpPr>
        <p:spPr>
          <a:xfrm>
            <a:off x="7589520" y="4114800"/>
            <a:ext cx="4160520" cy="4000"/>
          </a:xfrm>
          <a:prstGeom prst="rect">
            <a:avLst/>
          </a:prstGeom>
          <a:solidFill>
            <a:srgbClr val="D0D7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45" name="TextBox 44"/>
          <p:cNvSpPr txBox="1"/>
          <p:nvPr/>
        </p:nvSpPr>
        <p:spPr>
          <a:xfrm>
            <a:off x="7589520" y="4206240"/>
            <a:ext cx="219456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0">
                <a:solidFill>
                  <a:srgbClr val="333D4A"/>
                </a:solidFill>
                <a:latin typeface="Calibri"/>
              </a:rPr>
              <a:t>Próxima Manutenção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784080" y="4206240"/>
            <a:ext cx="18288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1100" b="1">
                <a:solidFill>
                  <a:srgbClr val="1F2D3D"/>
                </a:solidFill>
                <a:latin typeface="Calibri"/>
              </a:rPr>
              <a:t>23/04/2027 (361 dias)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11658600" y="4325112"/>
            <a:ext cx="118872" cy="118872"/>
          </a:xfrm>
          <a:prstGeom prst="roundRect">
            <a:avLst>
              <a:gd name="adj" fmla="val 8000"/>
            </a:avLst>
          </a:prstGeom>
          <a:solidFill>
            <a:srgbClr val="2CA5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48" name="Rectangle 47"/>
          <p:cNvSpPr/>
          <p:nvPr/>
        </p:nvSpPr>
        <p:spPr>
          <a:xfrm>
            <a:off x="7589520" y="4617720"/>
            <a:ext cx="4160520" cy="4000"/>
          </a:xfrm>
          <a:prstGeom prst="rect">
            <a:avLst/>
          </a:prstGeom>
          <a:solidFill>
            <a:srgbClr val="D0D7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49" name="Rectangle 48"/>
          <p:cNvSpPr/>
          <p:nvPr/>
        </p:nvSpPr>
        <p:spPr>
          <a:xfrm>
            <a:off x="0" y="6446520"/>
            <a:ext cx="12191695" cy="15000"/>
          </a:xfrm>
          <a:prstGeom prst="rect">
            <a:avLst/>
          </a:prstGeom>
          <a:solidFill>
            <a:srgbClr val="D0D7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50" name="TextBox 49"/>
          <p:cNvSpPr txBox="1"/>
          <p:nvPr/>
        </p:nvSpPr>
        <p:spPr>
          <a:xfrm>
            <a:off x="457200" y="6510528"/>
            <a:ext cx="7315200" cy="3200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100" b="0">
                <a:solidFill>
                  <a:srgbClr val="6B7785"/>
                </a:solidFill>
                <a:latin typeface="Calibri"/>
              </a:rPr>
              <a:t>Relatório Mensal — Componente IJ-117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772400" y="6510528"/>
            <a:ext cx="4114800" cy="3200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r"/>
            <a:r>
              <a:rPr sz="1100" b="0">
                <a:solidFill>
                  <a:srgbClr val="6B7785"/>
                </a:solidFill>
                <a:latin typeface="Calibri"/>
              </a:rPr>
              <a:t>Mai/2024 → Mar/2026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
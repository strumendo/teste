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822960" cy="457200"/>
          </a:xfrm>
          <a:prstGeom prst="roundRect">
            <a:avLst>
              <a:gd name="adj" fmla="val 8000"/>
            </a:avLst>
          </a:prstGeom>
          <a:solidFill>
            <a:srgbClr val="F1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2296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IJ-130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029200" cy="2560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4400" b="1">
                <a:solidFill>
                  <a:srgbClr val="1F2D3D"/>
                </a:solidFill>
                <a:latin typeface="Calibri"/>
              </a:rPr>
              <a:t>Relatório</a:t>
            </a:r>
          </a:p>
          <a:p>
            <a:pPr algn="l"/>
            <a:r>
              <a:rPr sz="4400" b="1">
                <a:solidFill>
                  <a:srgbClr val="1F2D3D"/>
                </a:solidFill>
                <a:latin typeface="Calibri"/>
              </a:rPr>
              <a:t>Mensal</a:t>
            </a:r>
          </a:p>
          <a:p>
            <a:pPr algn="l"/>
            <a:r>
              <a:rPr sz="4400" b="1">
                <a:solidFill>
                  <a:srgbClr val="1F2D3D"/>
                </a:solidFill>
                <a:latin typeface="Calibri"/>
              </a:rPr>
              <a:t>por</a:t>
            </a:r>
          </a:p>
          <a:p>
            <a:pPr algn="l"/>
            <a:r>
              <a:rPr sz="4400" b="1">
                <a:solidFill>
                  <a:srgbClr val="1F2D3D"/>
                </a:solidFill>
                <a:latin typeface="Calibri"/>
              </a:rPr>
              <a:t>Componente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5029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333D4A"/>
                </a:solidFill>
                <a:latin typeface="Calibri"/>
              </a:rPr>
              <a:t>Análise de desempenho · Mai/2025 → Mar/2026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983480"/>
            <a:ext cx="5029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6B7785"/>
                </a:solidFill>
                <a:latin typeface="Calibri"/>
              </a:rPr>
              <a:t>Produção · Qualidade · Manutenção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280160"/>
            <a:ext cx="5212080" cy="12801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675120" y="141732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E53E5A"/>
                </a:solidFill>
                <a:latin typeface="Calibri"/>
              </a:rPr>
              <a:t>20.822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920240"/>
            <a:ext cx="46634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Calibri"/>
              </a:rPr>
              <a:t>Peças produzidas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194560"/>
            <a:ext cx="46634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Mai/2025 → Mar/2026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788920"/>
            <a:ext cx="5212080" cy="12801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675120" y="292608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F1A13C"/>
                </a:solidFill>
                <a:latin typeface="Calibr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429000"/>
            <a:ext cx="46634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Calibri"/>
              </a:rPr>
              <a:t>Compostos utilizados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703320"/>
            <a:ext cx="46634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11 meses de operação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4297680"/>
            <a:ext cx="5212080" cy="12801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675120" y="443484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2CA57E"/>
                </a:solidFill>
                <a:latin typeface="Calibri"/>
              </a:rPr>
              <a:t>1,33 %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937760"/>
            <a:ext cx="46634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Calibri"/>
              </a:rPr>
              <a:t>Taxa de refugo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5212080"/>
            <a:ext cx="46634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276 peças refugadas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Visão Executiva da Produção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278892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600" b="1">
                <a:solidFill>
                  <a:srgbClr val="E53E5A"/>
                </a:solidFill>
                <a:latin typeface="Calibri"/>
              </a:rPr>
              <a:t>20.822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3736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2D3D"/>
                </a:solidFill>
                <a:latin typeface="Calibri"/>
              </a:rPr>
              <a:t>Total Produzido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05740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peças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00584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246120" y="1143000"/>
            <a:ext cx="278892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600" b="1">
                <a:solidFill>
                  <a:srgbClr val="F1A13C"/>
                </a:solidFill>
                <a:latin typeface="Calibri"/>
              </a:rPr>
              <a:t>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173736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2D3D"/>
                </a:solidFill>
                <a:latin typeface="Calibri"/>
              </a:rPr>
              <a:t>Meses de Operação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205740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Mai/2025 → Mar/2026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00584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126480" y="1143000"/>
            <a:ext cx="278892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600" b="1">
                <a:solidFill>
                  <a:srgbClr val="2C6EC9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173736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2D3D"/>
                </a:solidFill>
                <a:latin typeface="Calibri"/>
              </a:rPr>
              <a:t>Compostos Distintos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05740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utilizados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100584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006840" y="1143000"/>
            <a:ext cx="278892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600" b="1">
                <a:solidFill>
                  <a:srgbClr val="E53E5A"/>
                </a:solidFill>
                <a:latin typeface="Calibri"/>
              </a:rPr>
              <a:t>1,33 %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173736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2D3D"/>
                </a:solidFill>
                <a:latin typeface="Calibri"/>
              </a:rPr>
              <a:t>Taxa de Refugo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205740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276 peças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2606040"/>
            <a:ext cx="6858000" cy="36576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48640" y="2743200"/>
            <a:ext cx="640080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Calibri"/>
              </a:rPr>
              <a:t>Destaques do Período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24612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3246120"/>
            <a:ext cx="61264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333D4A"/>
                </a:solidFill>
                <a:latin typeface="Calibri"/>
              </a:rPr>
              <a:t>Pico de produção em Nov/2025: 8.996 peças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88620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3886200"/>
            <a:ext cx="61264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333D4A"/>
                </a:solidFill>
                <a:latin typeface="Calibri"/>
              </a:rPr>
              <a:t>FP75614/49 lidera com 70,03 % da produção total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52628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526280"/>
            <a:ext cx="61264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333D4A"/>
                </a:solidFill>
                <a:latin typeface="Calibri"/>
              </a:rPr>
              <a:t>Taxa de refugo de 1,33 % no período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16636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5166360"/>
            <a:ext cx="61264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333D4A"/>
                </a:solidFill>
                <a:latin typeface="Calibri"/>
              </a:rPr>
              <a:t>Última troca em 04/10/2025 — próxima prescrita em 30/10/2026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06640" y="2606040"/>
            <a:ext cx="4434840" cy="36576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406640" y="2743200"/>
            <a:ext cx="443484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600" b="1">
                <a:solidFill>
                  <a:srgbClr val="1F2D3D"/>
                </a:solidFill>
                <a:latin typeface="Calibri"/>
              </a:rPr>
              <a:t>Aprovado vs. Refugado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3154680"/>
            <a:ext cx="4206240" cy="301752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IJ-130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Mai/2025 → Mar/2026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Tendências de Produção Mensal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3794760" cy="11887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32461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>
                <a:solidFill>
                  <a:srgbClr val="E53E5A"/>
                </a:solidFill>
                <a:latin typeface="Calibri"/>
              </a:rPr>
              <a:t>8.996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Pico de Produção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47088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Nov/2025 — recorde do período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005840"/>
            <a:ext cx="3794760" cy="11887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26280" y="1097280"/>
            <a:ext cx="32461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>
                <a:solidFill>
                  <a:srgbClr val="F1A13C"/>
                </a:solidFill>
                <a:latin typeface="Calibri"/>
              </a:rPr>
              <a:t>1.893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554480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Média Mensal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847088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Calculada sobre 11 meses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005840"/>
            <a:ext cx="3794760" cy="11887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412480" y="1097280"/>
            <a:ext cx="32461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>
                <a:solidFill>
                  <a:srgbClr val="2C6EC9"/>
                </a:solidFill>
                <a:latin typeface="Calibri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1554480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Menor Mês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1847088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Jun/2025 — menor volume registrado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331720"/>
            <a:ext cx="11475720" cy="402336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Mai/2025 → Mar/2026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Análise de Materiais e Compostos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6675120" cy="534924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63093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Calibri"/>
              </a:rPr>
              <a:t>Volume por Composto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08760"/>
            <a:ext cx="6492240" cy="4754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178040" y="1005840"/>
            <a:ext cx="4663440" cy="1874519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200" y="1097280"/>
            <a:ext cx="4389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Composto Dominante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371600"/>
            <a:ext cx="43891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2D3D"/>
                </a:solidFill>
                <a:latin typeface="Calibri"/>
              </a:rPr>
              <a:t>FP75614/49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783080"/>
            <a:ext cx="2194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E53E5A"/>
                </a:solidFill>
                <a:latin typeface="Calibri"/>
              </a:rPr>
              <a:t>70,03 %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240280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do total produzido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1783080"/>
            <a:ext cx="2194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E53E5A"/>
                </a:solidFill>
                <a:latin typeface="Calibri"/>
              </a:rPr>
              <a:t>14.582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2240280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peças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542032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5 meses com uso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2542032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238 peças refugadas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78040" y="3017520"/>
            <a:ext cx="4663440" cy="3337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269480" y="3108960"/>
            <a:ext cx="18288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Composto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3108960"/>
            <a:ext cx="914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E53E5A"/>
                </a:solidFill>
                <a:latin typeface="Calibri"/>
              </a:rPr>
              <a:t>Produzido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12680" y="3108960"/>
            <a:ext cx="7315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E53E5A"/>
                </a:solidFill>
                <a:latin typeface="Calibri"/>
              </a:rPr>
              <a:t>% Total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44200" y="3108960"/>
            <a:ext cx="64008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E53E5A"/>
                </a:solidFill>
                <a:latin typeface="Calibri"/>
              </a:rPr>
              <a:t>Refugo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84280" y="3108960"/>
            <a:ext cx="4572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E53E5A"/>
                </a:solidFill>
                <a:latin typeface="Calibri"/>
              </a:rPr>
              <a:t>Meses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69480" y="3456432"/>
            <a:ext cx="4572000" cy="8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269480" y="352044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1">
                <a:solidFill>
                  <a:srgbClr val="E53E5A"/>
                </a:solidFill>
                <a:latin typeface="Calibri"/>
              </a:rPr>
              <a:t>FP75614/49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3520440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1">
                <a:solidFill>
                  <a:srgbClr val="E53E5A"/>
                </a:solidFill>
                <a:latin typeface="Calibri"/>
              </a:rPr>
              <a:t>14.582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12680" y="3520440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1">
                <a:solidFill>
                  <a:srgbClr val="E53E5A"/>
                </a:solidFill>
                <a:latin typeface="Calibri"/>
              </a:rPr>
              <a:t>70,03 %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4200" y="3520440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1">
                <a:solidFill>
                  <a:srgbClr val="E53E5A"/>
                </a:solidFill>
                <a:latin typeface="Calibri"/>
              </a:rPr>
              <a:t>238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3520440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1">
                <a:solidFill>
                  <a:srgbClr val="E53E5A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80" y="3941064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F424/40 MARROM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80" y="3941064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3.793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12680" y="3941064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18,22 %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44200" y="3941064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84280" y="3941064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69480" y="4361688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MASSA F403/32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98280" y="4361688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1.619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12680" y="4361688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7,78 %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44200" y="4361688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84280" y="4361688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69480" y="4782312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EP 4053/1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98280" y="4782312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707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12680" y="4782312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3,40 %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44200" y="4782312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84280" y="4782312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69480" y="5202936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N148/18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98280" y="5202936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121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12680" y="5202936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0,58 %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744200" y="5202936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84280" y="5202936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IJ-130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Mai/2025 → Mar/2026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Controle de Qualidade — Taxa de Refugo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6675120" cy="534924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63093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Calibri"/>
              </a:rPr>
              <a:t>Refugo por Composto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08760"/>
            <a:ext cx="6492240" cy="4754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178040" y="1005840"/>
            <a:ext cx="4663440" cy="2194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178040" y="1143000"/>
            <a:ext cx="46634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400" b="1">
                <a:solidFill>
                  <a:srgbClr val="2CA57E"/>
                </a:solidFill>
                <a:latin typeface="Calibri"/>
              </a:rPr>
              <a:t>1,33 %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1783080"/>
            <a:ext cx="46634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2D3D"/>
                </a:solidFill>
                <a:latin typeface="Calibri"/>
              </a:rPr>
              <a:t>Taxa de Refugo Global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219456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800" b="1">
                <a:solidFill>
                  <a:srgbClr val="E53E5A"/>
                </a:solidFill>
                <a:latin typeface="Calibri"/>
              </a:rPr>
              <a:t>276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2542032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Peças refugadas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219456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800" b="1">
                <a:solidFill>
                  <a:srgbClr val="F1A13C"/>
                </a:solidFill>
                <a:latin typeface="Calibri"/>
              </a:rPr>
              <a:t>20.822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2542032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Total produzido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2834640"/>
            <a:ext cx="3474720" cy="292608"/>
          </a:xfrm>
          <a:prstGeom prst="roundRect">
            <a:avLst>
              <a:gd name="adj" fmla="val 8000"/>
            </a:avLst>
          </a:prstGeom>
          <a:solidFill>
            <a:srgbClr val="E7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772400" y="2834640"/>
            <a:ext cx="347472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2CA57E"/>
                </a:solidFill>
                <a:latin typeface="Calibri"/>
              </a:rPr>
              <a:t>Dentro do limite aceitável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78040" y="3337560"/>
            <a:ext cx="4663440" cy="30175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315200" y="3429000"/>
            <a:ext cx="43891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Calibri"/>
              </a:rPr>
              <a:t>Análise de Qualidade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3840480"/>
            <a:ext cx="2743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E53E5A"/>
                </a:solidFill>
                <a:latin typeface="Calibri"/>
              </a:rPr>
              <a:t>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3840480"/>
            <a:ext cx="4114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FP75614/49: maior volume de refugo absoluto (238 peças)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4434840"/>
            <a:ext cx="2743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4434840"/>
            <a:ext cx="4114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Taxa mensal estável — sem pico de rejeição significativo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5029200"/>
            <a:ext cx="2743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5029200"/>
            <a:ext cx="4114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Refugo geral abaixo de 1,5 % no período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IJ-130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Mai/2025 → Mar/2026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Estratégia de Manutenção Preventiva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7589520" cy="21031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7315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2D3D"/>
                </a:solidFill>
                <a:latin typeface="Calibri"/>
              </a:rPr>
              <a:t>Histórico de Manutenções RM.195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7406640" cy="16916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092440" y="1005840"/>
            <a:ext cx="3749039" cy="27432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8778240" y="1143000"/>
            <a:ext cx="2377440" cy="384048"/>
          </a:xfrm>
          <a:prstGeom prst="roundRect">
            <a:avLst>
              <a:gd name="adj" fmla="val 8000"/>
            </a:avLst>
          </a:prstGeom>
          <a:solidFill>
            <a:srgbClr val="E7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778240" y="1143000"/>
            <a:ext cx="2377440" cy="38404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2CA57E"/>
                </a:solidFill>
                <a:latin typeface="Calibri"/>
              </a:rPr>
              <a:t>✓ 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1691640"/>
            <a:ext cx="3749039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600" b="1">
                <a:solidFill>
                  <a:srgbClr val="2CA57E"/>
                </a:solidFill>
                <a:latin typeface="Calibri"/>
              </a:rPr>
              <a:t>186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2331720"/>
            <a:ext cx="374903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0">
                <a:solidFill>
                  <a:srgbClr val="6B7785"/>
                </a:solidFill>
                <a:latin typeface="Calibri"/>
              </a:rPr>
              <a:t>dias restantes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2697480"/>
            <a:ext cx="3749039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600" b="1">
                <a:solidFill>
                  <a:srgbClr val="1F2D3D"/>
                </a:solidFill>
                <a:latin typeface="Calibri"/>
              </a:rPr>
              <a:t>30/10/2026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3063240"/>
            <a:ext cx="374903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Próxima manutenção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3337560"/>
            <a:ext cx="374903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Última troca: 04/10/2025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246120"/>
            <a:ext cx="7589520" cy="31089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02920" y="3383280"/>
            <a:ext cx="18288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Componente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3383280"/>
            <a:ext cx="128016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Valor Atual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383280"/>
            <a:ext cx="14630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Referência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3383280"/>
            <a:ext cx="7315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Fator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3383280"/>
            <a:ext cx="201168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Efeito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703320"/>
            <a:ext cx="7315200" cy="8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02920" y="379476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T_base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20" y="379476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504,0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379476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Mediana histórica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379476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60" y="379476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Ponto de partida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29768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Ampl. cil./fuso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31720" y="429768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cil. 0,030 / fuso 0,040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429768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0" y="429768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1,0000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60" y="429768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Fator neutro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480060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Massa pós-troca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80060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451,66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0" y="480060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mediana janelas anteriores: 38,54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0640" y="480060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0,7000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52160" y="480060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consumiu **11,72×** a massa típica → antecipa a próxima troca (×0,700)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530352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Ociosidade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31720" y="530352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38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0" y="530352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Últ. prod. → hoje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20640" y="530352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52160" y="530352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Desliza data p/ frente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11480" y="5760720"/>
            <a:ext cx="7498079" cy="502920"/>
          </a:xfrm>
          <a:prstGeom prst="roundRect">
            <a:avLst>
              <a:gd name="adj" fmla="val 8000"/>
            </a:avLst>
          </a:prstGeom>
          <a:solidFill>
            <a:srgbClr val="FC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502920" y="580644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T_prescrito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31720" y="580644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352,8 dias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0" y="580644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504,0 × 1,0000 × 0,7000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20640" y="580644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52160" y="580644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Data: 30/10/2026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92440" y="3886200"/>
            <a:ext cx="3749039" cy="246888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8229600" y="3977639"/>
            <a:ext cx="34747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Níveis de Urgência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229600" y="4434840"/>
            <a:ext cx="1417320" cy="320040"/>
          </a:xfrm>
          <a:prstGeom prst="roundRect">
            <a:avLst>
              <a:gd name="adj" fmla="val 8000"/>
            </a:avLst>
          </a:prstGeom>
          <a:solidFill>
            <a:srgbClr val="FBE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8229600" y="4434840"/>
            <a:ext cx="14173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E53E5A"/>
                </a:solidFill>
                <a:latin typeface="Calibri"/>
              </a:rPr>
              <a:t>ATRASADO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84080" y="4434840"/>
            <a:ext cx="19202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&lt; 0 dias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229600" y="4846320"/>
            <a:ext cx="1417320" cy="320040"/>
          </a:xfrm>
          <a:prstGeom prst="roundRect">
            <a:avLst>
              <a:gd name="adj" fmla="val 8000"/>
            </a:avLst>
          </a:prstGeom>
          <a:solidFill>
            <a:srgbClr val="FC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8229600" y="4846320"/>
            <a:ext cx="14173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F1A13C"/>
                </a:solidFill>
                <a:latin typeface="Calibri"/>
              </a:rPr>
              <a:t>URGENTE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784080" y="4846320"/>
            <a:ext cx="19202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0 – 29 dias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229600" y="5257800"/>
            <a:ext cx="1417320" cy="320040"/>
          </a:xfrm>
          <a:prstGeom prst="roundRect">
            <a:avLst>
              <a:gd name="adj" fmla="val 8000"/>
            </a:avLst>
          </a:prstGeom>
          <a:solidFill>
            <a:srgbClr val="FA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8229600" y="5257800"/>
            <a:ext cx="14173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E3C047"/>
                </a:solidFill>
                <a:latin typeface="Calibri"/>
              </a:rPr>
              <a:t>ATENÇÃO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784080" y="5257800"/>
            <a:ext cx="19202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30 – 89 dias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229600" y="5669280"/>
            <a:ext cx="1417320" cy="320040"/>
          </a:xfrm>
          <a:prstGeom prst="roundRect">
            <a:avLst>
              <a:gd name="adj" fmla="val 8000"/>
            </a:avLst>
          </a:prstGeom>
          <a:solidFill>
            <a:srgbClr val="DF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8229600" y="5669280"/>
            <a:ext cx="14173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2CA57E"/>
                </a:solidFill>
                <a:latin typeface="Calibri"/>
              </a:rPr>
              <a:t>✓ OK — ATUAL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784080" y="5669280"/>
            <a:ext cx="19202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≥ 90 dias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IJ-130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Referência: 27/04/2026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Conclusões e Insights Operacionais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05840"/>
            <a:ext cx="685800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2D3D"/>
                </a:solidFill>
                <a:latin typeface="Calibri"/>
              </a:rPr>
              <a:t>Principais Conclusões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508760"/>
            <a:ext cx="685800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50000" cy="1051560"/>
          </a:xfrm>
          <a:prstGeom prst="rect">
            <a:avLst/>
          </a:prstGeom>
          <a:solidFill>
            <a:srgbClr val="2C6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94360" y="1645920"/>
            <a:ext cx="6400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Produção Consistente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1168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20.822 peças em 11 meses com pico histórico de 8.996 em Nov/2025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651760"/>
            <a:ext cx="685800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65760" y="2651760"/>
            <a:ext cx="50000" cy="105156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94360" y="2788920"/>
            <a:ext cx="6400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Dominância do FP75614/49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15468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70,03 % da produção — composto principal por 5 meses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3794760"/>
            <a:ext cx="685800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365760" y="3794760"/>
            <a:ext cx="50000" cy="1051560"/>
          </a:xfrm>
          <a:prstGeom prst="rect">
            <a:avLst/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94360" y="3931920"/>
            <a:ext cx="6400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Qualidade Controlada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29768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Taxa de refugo de apenas 1,33 % — desempenho estável em todo o período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4937760"/>
            <a:ext cx="685800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365760" y="4937760"/>
            <a:ext cx="50000" cy="1051560"/>
          </a:xfrm>
          <a:prstGeom prst="rect">
            <a:avLst/>
          </a:prstGeom>
          <a:solidFill>
            <a:srgbClr val="F1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94360" y="5074920"/>
            <a:ext cx="6400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Manutenção Planejada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44068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Próxima intervenção prevista para 30/10/2026 — 186 dias de folga operacional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06640" y="1005840"/>
            <a:ext cx="4434840" cy="53949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589520" y="1097280"/>
            <a:ext cx="4160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Calibri"/>
              </a:rPr>
              <a:t>Scorecard Operacional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169164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Volume Total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169164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20.822 peças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658600" y="181051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7589520" y="210312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589520" y="219456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Período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0" y="219456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11 meses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658600" y="231343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7589520" y="260604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589520" y="269748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Compostos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0" y="269748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5 tipos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658600" y="281635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7589520" y="310896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589520" y="320040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Taxa de Refugo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84080" y="320040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1,33 %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1658600" y="331927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7589520" y="361188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589520" y="370332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Pico Mensal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84080" y="370332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8.996 peças — Nov/2025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1658600" y="382219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F1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7589520" y="411480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589520" y="420624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Próxima Manutenção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84080" y="420624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30/10/2026 (186 dias)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1658600" y="432511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7589520" y="461772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IJ-130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Mai/2025 → Mar/2026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